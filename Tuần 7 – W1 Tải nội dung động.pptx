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12192000"/>
  <p:embeddedFontLst>
    <p:embeddedFont>
      <p:font typeface="Be Vietnam Pro" pitchFamily="34" charset="0"/>
      <p:regular r:id="rId20"/>
      <p:bold r:id="rId21"/>
    </p:embeddedFont>
    <p:embeddedFont>
      <p:font typeface="Be Vietnam Pro" pitchFamily="34" charset="-122"/>
      <p:regular r:id="rId22"/>
      <p:bold r:id="rId23"/>
    </p:embeddedFont>
    <p:embeddedFont>
      <p:font typeface="Be Vietnam Pro" pitchFamily="34" charset="-120"/>
      <p:regular r:id="rId24"/>
      <p:bold r:id="rId25"/>
    </p:embeddedFont>
    <p:embeddedFont>
      <p:font typeface="JetBrains Mono" panose="02000009000000000000" pitchFamily="49" charset="0"/>
      <p:regular r:id="rId26"/>
      <p:bold r:id="rId27"/>
    </p:embeddedFont>
    <p:embeddedFont>
      <p:font typeface="JetBrains Mono" panose="02000009000000000000" pitchFamily="49" charset="-122"/>
      <p:regular r:id="rId28"/>
      <p:bold r:id="rId29"/>
    </p:embeddedFont>
    <p:embeddedFont>
      <p:font typeface="JetBrains Mono" panose="02000009000000000000" pitchFamily="49" charset="-120"/>
      <p:regular r:id="rId30"/>
      <p:bold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font" Target="fonts/font12.fntdata"/><Relationship Id="rId30" Type="http://schemas.openxmlformats.org/officeDocument/2006/relationships/font" Target="fonts/font11.fntdata"/><Relationship Id="rId3" Type="http://schemas.openxmlformats.org/officeDocument/2006/relationships/slide" Target="slides/slide1.xml"/><Relationship Id="rId29" Type="http://schemas.openxmlformats.org/officeDocument/2006/relationships/font" Target="fonts/font10.fntdata"/><Relationship Id="rId28" Type="http://schemas.openxmlformats.org/officeDocument/2006/relationships/font" Target="fonts/font9.fntdata"/><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(khoảng 30 giây). Chào thầy cô và các bạn. Em trình bày bài W1 tuần 7: Tải nội dung động. Chủ đề tuần này là “chờ đúng lúc” trong Selenium. Em sẽ tóm tắt kiến thức ở 3 mục tài liệu selenium-python: 5.1 Explicit Waits, 5.2 Implicit Waits, 7.1 Exceptions. Sau đó em báo cáo 8 test case và kết quả chạy thật. Toàn bộ mã nguồn và báo cáo nằm trên GitHub, nhánh week-07.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30 giây. Bài được giao 2 trang dynamic_loading trên the-internet. Khi bấm Start, trang không hiện kết quả ngay: nút Start bị ẩn, thanh Loading chạy khoảng 5 giây, sau đó mới hiện chữ Hello World!. Vấn đề là Selenium chạy rất nhanh và không tự đợi. Nếu ngay sau khi bấm Start ta tìm phần tử kết quả, Selenium sẽ tìm lúc trang vẫn đang Loading: hoặc không tìm thấy và báo NoSuchElementException, hoặc tìm thấy một phần tử đang bị ẩn. Vì vậy bài tuần 7 học cách chờ đúng lúc.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30 giây. Hai trang cho cùng một kết quả là chữ Hello World!, nhưng cách tải khác nhau. Ví dụ 1: phần tử finish đã có sẵn trong HTML ngay từ đầu, chỉ bị ẩn bằng display:none; bấm Start thì 5 giây sau nó mới được hiện ra. Ví dụ 2: lúc đầu trang hoàn toàn chưa có phần tử finish, find_elements trả về danh sách rỗng; 5 giây sau JavaScript mới chèn nó vào trang. Đây là lý do bài giao 2 trang: để thấy sự khác nhau giữa “có mặt trong DOM” và “đang hiển thị”. Điểm này quyết định dùng điều kiện chờ nào ở các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Cách dễ nghĩ nhất là thêm time.sleep(5), nhưng tài liệu 5.1 gọi đây là trường hợp cực đoan. Sleep luôn đứng yên đủ thời gian: trang nhanh thì phí thời gian, trang chậm hơn 5 giây thì test vẫn lỗi. WebDriverWait thì khác: nó chờ tối đa 10 giây, nhưng cứ 0,5 giây kiểm tra lại điều kiện một lần, điều kiện đúng là chạy tiếp ngay. Quá thời gian tối đa thì báo TimeoutException. Tóm lại: chờ theo điều kiện, không chờ theo đồng hồ.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30 giây. Mục 5.1: Explicit Wait là chờ tường minh, tức là ta viết rõ tại một chỗ trong code: chờ điều kiện nào, tối đa bao lâu. Tạo WebDriverWait với driver và số giây tối đa, ở đây là 10. Gọi until và truyền vào một điều kiện, ở đây là visibility_of_element_located của chữ Hello World. Theo tài liệu, mặc định cứ 500 mili giây Selenium kiểm tra lại điều kiện một lần. Điều kiện đúng thì until trả về phần tử và chạy tiếp ngay. Nếu hết 10 giây mà điều kiện vẫn chưa đúng thì báo TimeoutException. Phần A của bài, từ TC01 đến TC05, dùng cách chờ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30 giây. Module expected_conditions có sẵn nhiều điều kiện, bài dùng 3 cái. presence_of_element_located: đúng khi phần tử có trong DOM, không quan tâm nó ẩn hay hiện. visibility_of_element_located: đúng khi phần tử vừa có trong DOM vừa đang hiển thị. invisibility_of_element_located: đúng khi phần tử bị ẩn hoặc đã biến mất khỏi DOM, em dùng để chờ thanh Loading biến mất ở TC03. Điểm quan trọng nhất: ở Ví dụ 1, phần tử finish có sẵn từ đầu, nên nếu chỉ chờ presence thì điều kiện đúng ngay lập tức dù người dùng chưa thấy gì. Vì vậy với phần tử bị ẩn phải chờ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Mục 5.2: Implicit Wait là chờ ngầm định. Ta chỉ gọi driver.implicitly_wait(10) một lần, sau đó mọi lệnh find_element của driver đó đều tự thử lại tối đa 10 giây nếu chưa tìm thấy. Theo tài liệu, giá trị mặc định là 0 và khi đã đặt thì có hiệu lực suốt đời đối tượng WebDriver. Điểm cần nhớ: implicit wait chỉ chờ phần tử có mặt trong DOM, không chờ nó hiển thị, nên với Ví dụ 1 thì không đủ. Hết giờ mà vẫn không thấy thì báo NoSuchElementException. Phần B, từ TC06 đến TC08, dùng cách chờ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So sánh nhanh hai cách chờ. Explicit Wait đặt tại đúng chỗ cần chờ và chờ được bất kỳ điều kiện nào: hiện ra, biến mất, click được. Implicit Wait đặt một lần cho cả driver nhưng chỉ chờ phần tử có mặt trong DOM. Hết giờ thì explicit báo TimeoutException, implicit báo NoSuchElementException. Với Ví dụ 1, phần tử bị ẩn, chỉ explicit wait với visibility mới dùng được; implicit wait trả về ngay phần tử đang ẩn. Với Ví dụ 2 thì cả hai đều dùng được. Tài liệu Selenium chính thức khuyến cáo không trộn hai kiểu trên cùng một driver vì thời gian chờ sẽ khó đoán. Trong bài, mỗi test mở một Chrome riêng: Phần A chỉ dùng explicit, Phần B chỉ dùng implicit.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30 giây. Mục 7.1 liệt kê các ngoại lệ của WebDriver; bài này dùng hai cái. TimeoutException xảy ra khi explicit wait hết giờ mà điều kiện vẫn chưa đúng: TC04 không bấm Start nên phần tử finish không bao giờ xuất hiện, TC05 chỉ chờ 2 giây trong khi trang cần 5 giây. NoSuchElementException xảy ra khi find_element đã chờ hết implicit wait mà vẫn không tìm thấy, đó là TC08. Trong các test này, lỗi chính là kết quả mong đợi, nên em dùng pytest.raises: nếu đúng loại lỗi xảy ra thì test PASSED, còn nếu lỗi không xảy ra thì test FAILED. Như vậy ta kiểm thử được cả trường hợp chờ thất bại.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30 giây. Bài làm là file test_w1.py với 8 test case, mỗi test mở một Chrome riêng và tự chụp ảnh minh chứng. Phần A dùng explicit wait: TC01 chờ chữ Hello World hiện ra ở Ví dụ 1; TC02 ở Ví dụ 2 kiểm tra lúc đầu chưa có finish rồi chờ presence và visibility; TC03 chờ thanh Loading hiện rồi biến mất; TC04 và TC05 là hai trường hợp hết giờ. Phần B dùng implicit wait: TC06 cho thấy implicit wait tìm được phần tử mới được thêm vào; TC07 cho thấy hạn chế của nó với phần tử bị ẩn; TC08 là trường hợp hết implicit wait. Bảng chi tiết các bước và kết quả mong đợi nằm trong file testcases.md trên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Đây là kết quả chạy thật trên trang the-internet, báo cáo report.html do pytest-html tạo ra ngày 27/10/2026. Cả 8 test đều PASSED, không có test FAILED hay lỗi. Tổng thời gian 1 phút 28 giây. Mỗi test mất từ 7 đến 16 giây vì phải mở Chrome mới và chờ trang tải khoảng 5 giây. Máy chạy là Windows 11, Python 3.12.7, pytest 9.1.1. Báo cáo này và 8 ảnh minh chứng đều đã được đưa lên GitHub, nhánh week-07, thư mục tuan-07/W1.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30 giây. Hai ảnh minh chứng này do chính bài test tự chụp, và chúng cho thấy điểm quan trọng nhất của tuần. Bên trái là TC07: dùng implicit wait ở Ví dụ 1, find_element trả về ngay phần tử finish vì nó đã có sẵn trong DOM, nhưng lúc đó nó vẫn đang ẩn: text rỗng và màn hình vẫn là Loading. Bên phải là TC01: dùng explicit wait với visibility, Selenium chờ đến khi chữ thật sự hiện ra rồi mới chạy tiếp, nên ảnh chụp được Hello World. Thêm hai nhận xét: ở TC04 và TC05, pytest.raises bắt đúng TimeoutException; riêng TC05 chờ lại 10 giây vẫn thấy kết quả, chứng tỏ trang không lỗi mà chỉ chờ quá ngắn. Ở TC08, implicit wait thật sự chờ hết khoảng 2 giây rồi mới báo NoSuchElementException.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30 giây đến 1 phút. Tóm lại, em rút ra 3 điều. Một: với trang tải động, phải chờ theo điều kiện chứ không dùng sleep. Hai: phần tử có sẵn nhưng bị ẩn thì phải chờ visibility; phần tử được thêm vào sau thì presence hoặc implicit wait cũng đủ. Ba: trường hợp chờ thất bại cũng kiểm thử được, bằng cách dùng pytest.raises với TimeoutException và NoSuchElementException. Mã nguồn, bảng test case và báo cáo nằm trên GitHub, nhánh week-07. Em cảm ơn thầy cô và các bạn đã lắng nghe, mời mọi người đặt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67360"/>
          </a:xfrm>
          <a:prstGeom prst="rect">
            <a:avLst/>
          </a:prstGeom>
          <a:noFill/>
        </p:spPr>
        <p:txBody>
          <a:bodyPr wrap="square" lIns="0" tIns="0" rIns="0" bIns="0" rtlCol="0" anchor="t"/>
          <a:lstStyle>
            <a:lvl1pPr marL="0" indent="0" algn="l">
              <a:lnSpc>
                <a:spcPct val="115000"/>
              </a:lnSpc>
              <a:buNone/>
              <a:defRPr lang="en-US" sz="3200" dirty="0">
                <a:solidFill>
                  <a:srgbClr val="14212B"/>
                </a:solidFill>
                <a:latin typeface="Be Vietnam Pro" pitchFamily="34" charset="0"/>
                <a:ea typeface="Be Vietnam Pro" pitchFamily="34" charset="-122"/>
                <a:cs typeface="Be Vietnam Pro" pitchFamily="34" charset="-120"/>
              </a:defRPr>
            </a:lvl1pPr>
          </a:lstStyle>
          <a:p>
            <a:pPr marL="0" indent="0" algn="l">
              <a:lnSpc>
                <a:spcPct val="115000"/>
              </a:lnSpc>
              <a:buNone/>
            </a:pPr>
            <a:endParaRPr lang="en-US" sz="3200" dirty="0"/>
          </a:p>
        </p:txBody>
      </p:sp>
      <p:sp>
        <p:nvSpPr>
          <p:cNvPr id="3" name="Text Placeholder 2"/>
          <p:cNvSpPr/>
          <p:nvPr>
            <p:ph type="body" idx="101"/>
          </p:nvPr>
        </p:nvSpPr>
        <p:spPr>
          <a:xfrm>
            <a:off x="812800" y="1874521"/>
            <a:ext cx="10566400" cy="4170679"/>
          </a:xfrm>
          <a:prstGeom prst="rect">
            <a:avLst/>
          </a:prstGeom>
          <a:noFill/>
        </p:spPr>
        <p:txBody>
          <a:bodyPr wrap="square" lIns="0" tIns="0" rIns="0" bIns="0" rtlCol="0" anchor="t"/>
          <a:lstStyle>
            <a:lvl1pPr marL="0" indent="0" algn="l">
              <a:lnSpc>
                <a:spcPct val="140000"/>
              </a:lnSpc>
              <a:buNone/>
              <a:defRPr lang="en-US" sz="1600" dirty="0">
                <a:solidFill>
                  <a:srgbClr val="14212B"/>
                </a:solidFill>
                <a:latin typeface="Be Vietnam Pro" pitchFamily="34" charset="0"/>
                <a:ea typeface="Be Vietnam Pro" pitchFamily="34" charset="-122"/>
                <a:cs typeface="Be Vietnam Pr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67360"/>
          </a:xfrm>
          <a:prstGeom prst="rect">
            <a:avLst/>
          </a:prstGeom>
          <a:noFill/>
        </p:spPr>
        <p:txBody>
          <a:bodyPr wrap="square" lIns="0" tIns="0" rIns="0" bIns="0" rtlCol="0" anchor="t"/>
          <a:lstStyle>
            <a:lvl1pPr marL="0" indent="0" algn="l">
              <a:lnSpc>
                <a:spcPct val="115000"/>
              </a:lnSpc>
              <a:buNone/>
              <a:defRPr lang="en-US" sz="3200" dirty="0">
                <a:solidFill>
                  <a:srgbClr val="14212B"/>
                </a:solidFill>
                <a:latin typeface="Be Vietnam Pro" pitchFamily="34" charset="0"/>
                <a:ea typeface="Be Vietnam Pro" pitchFamily="34" charset="-122"/>
                <a:cs typeface="Be Vietnam Pro" pitchFamily="34" charset="-120"/>
              </a:defRPr>
            </a:lvl1pPr>
          </a:lstStyle>
          <a:p>
            <a:pPr marL="0" indent="0" algn="l">
              <a:lnSpc>
                <a:spcPct val="115000"/>
              </a:lnSpc>
              <a:buNone/>
            </a:pPr>
            <a:endParaRPr lang="en-US" sz="3200" dirty="0"/>
          </a:p>
        </p:txBody>
      </p:sp>
      <p:sp>
        <p:nvSpPr>
          <p:cNvPr id="3" name="Text Placeholder 2"/>
          <p:cNvSpPr/>
          <p:nvPr>
            <p:ph type="body" idx="101"/>
          </p:nvPr>
        </p:nvSpPr>
        <p:spPr>
          <a:xfrm>
            <a:off x="812800" y="1874521"/>
            <a:ext cx="10566400" cy="4170679"/>
          </a:xfrm>
          <a:prstGeom prst="rect">
            <a:avLst/>
          </a:prstGeom>
          <a:noFill/>
        </p:spPr>
        <p:txBody>
          <a:bodyPr wrap="square" lIns="0" tIns="0" rIns="0" bIns="0" rtlCol="0" anchor="t"/>
          <a:lstStyle>
            <a:lvl1pPr marL="0" indent="0" algn="l">
              <a:lnSpc>
                <a:spcPct val="140000"/>
              </a:lnSpc>
              <a:buNone/>
              <a:defRPr lang="en-US" sz="1600" dirty="0">
                <a:solidFill>
                  <a:srgbClr val="14212B"/>
                </a:solidFill>
                <a:latin typeface="Be Vietnam Pro" pitchFamily="34" charset="0"/>
                <a:ea typeface="Be Vietnam Pro" pitchFamily="34" charset="-122"/>
                <a:cs typeface="Be Vietnam Pr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2B"/>
        </a:solidFill>
        <a:effectLst/>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gradFill rotWithShape="1">
            <a:gsLst>
              <a:gs pos="0">
                <a:srgbClr val="F2994A"/>
              </a:gs>
              <a:gs pos="62000">
                <a:srgbClr val="F2994A"/>
              </a:gs>
              <a:gs pos="62000">
                <a:srgbClr val="2B3A46"/>
              </a:gs>
              <a:gs pos="100000">
                <a:srgbClr val="2B3A46"/>
              </a:gs>
            </a:gsLst>
            <a:lin ang="0" scaled="0"/>
          </a:gradFill>
        </p:spPr>
      </p:sp>
      <p:sp>
        <p:nvSpPr>
          <p:cNvPr id="3" name="Text 1"/>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F2994A"/>
                </a:solidFill>
                <a:latin typeface="Be Vietnam Pro" pitchFamily="34" charset="0"/>
                <a:ea typeface="Be Vietnam Pro" pitchFamily="34" charset="-122"/>
                <a:cs typeface="Be Vietnam Pro" pitchFamily="34" charset="-120"/>
              </a:rPr>
              <a:t>KIỂM THỬ PHẦN MỀM · SELENIUM PYTHON</a:t>
            </a:r>
            <a:endParaRPr lang="en-US" sz="1400" dirty="0"/>
          </a:p>
        </p:txBody>
      </p:sp>
      <p:sp>
        <p:nvSpPr>
          <p:cNvPr id="4" name="Text 2"/>
          <p:cNvSpPr/>
          <p:nvPr>
            <p:ph type="title"/>
          </p:nvPr>
        </p:nvSpPr>
        <p:spPr>
          <a:xfrm>
            <a:off x="812800" y="2402840"/>
            <a:ext cx="10883392" cy="1518920"/>
          </a:xfrm>
          <a:prstGeom prst="rect">
            <a:avLst/>
          </a:prstGeom>
          <a:noFill/>
        </p:spPr>
        <p:txBody>
          <a:bodyPr wrap="square" lIns="0" tIns="0" rIns="0" bIns="0" rtlCol="0" anchor="t">
            <a:normAutofit/>
          </a:bodyPr>
          <a:lstStyle/>
          <a:p>
            <a:pPr marL="0" indent="0" algn="l">
              <a:lnSpc>
                <a:spcPts val="5880"/>
              </a:lnSpc>
              <a:buNone/>
            </a:pPr>
            <a:r>
              <a:rPr lang="en-US" sz="5600" b="1" i="0" dirty="0">
                <a:solidFill>
                  <a:srgbClr val="F6F5F1"/>
                </a:solidFill>
                <a:latin typeface="Be Vietnam Pro" pitchFamily="34" charset="0"/>
                <a:ea typeface="Be Vietnam Pro" pitchFamily="34" charset="-122"/>
                <a:cs typeface="Be Vietnam Pro" pitchFamily="34" charset="-120"/>
              </a:rPr>
              <a:t>Tuần 7 – W1</a:t>
            </a:r>
            <a:endParaRPr lang="en-US" sz="5600" dirty="0"/>
          </a:p>
          <a:p>
            <a:pPr marL="0" indent="0" algn="l">
              <a:lnSpc>
                <a:spcPts val="5880"/>
              </a:lnSpc>
              <a:buNone/>
            </a:pPr>
            <a:r>
              <a:rPr lang="en-US" sz="5600" b="1" i="0" dirty="0">
                <a:solidFill>
                  <a:srgbClr val="F6F5F1"/>
                </a:solidFill>
                <a:latin typeface="Be Vietnam Pro" pitchFamily="34" charset="0"/>
                <a:ea typeface="Be Vietnam Pro" pitchFamily="34" charset="-122"/>
                <a:cs typeface="Be Vietnam Pro" pitchFamily="34" charset="-120"/>
              </a:rPr>
              <a:t>Tải nội dung động</a:t>
            </a:r>
            <a:endParaRPr lang="en-US" sz="5600" dirty="0"/>
          </a:p>
        </p:txBody>
      </p:sp>
      <p:sp>
        <p:nvSpPr>
          <p:cNvPr id="5" name="Text 3"/>
          <p:cNvSpPr/>
          <p:nvPr/>
        </p:nvSpPr>
        <p:spPr>
          <a:xfrm>
            <a:off x="812800" y="4124960"/>
            <a:ext cx="10883392" cy="355600"/>
          </a:xfrm>
          <a:prstGeom prst="rect">
            <a:avLst/>
          </a:prstGeom>
          <a:noFill/>
        </p:spPr>
        <p:txBody>
          <a:bodyPr wrap="square" lIns="0" tIns="0" rIns="0" bIns="0" rtlCol="0" anchor="t">
            <a:normAutofit/>
          </a:bodyPr>
          <a:lstStyle/>
          <a:p>
            <a:pPr marL="0" indent="0" algn="l">
              <a:lnSpc>
                <a:spcPts val="2600"/>
              </a:lnSpc>
              <a:buNone/>
            </a:pPr>
            <a:r>
              <a:rPr lang="en-US" sz="2000" dirty="0">
                <a:solidFill>
                  <a:srgbClr val="B9C6CF"/>
                </a:solidFill>
                <a:latin typeface="Be Vietnam Pro" pitchFamily="34" charset="0"/>
                <a:ea typeface="Be Vietnam Pro" pitchFamily="34" charset="-122"/>
                <a:cs typeface="Be Vietnam Pro" pitchFamily="34" charset="-120"/>
              </a:rPr>
              <a:t>Chờ đúng lúc với Explicit Wait, Implicit Wait và Exceptions</a:t>
            </a:r>
            <a:endParaRPr lang="en-US" sz="2000" dirty="0"/>
          </a:p>
        </p:txBody>
      </p:sp>
      <p:sp>
        <p:nvSpPr>
          <p:cNvPr id="6" name="Text 4"/>
          <p:cNvSpPr/>
          <p:nvPr/>
        </p:nvSpPr>
        <p:spPr>
          <a:xfrm>
            <a:off x="812800" y="5796280"/>
            <a:ext cx="1113187" cy="27432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B9C6CF"/>
                </a:solidFill>
                <a:latin typeface="Be Vietnam Pro" pitchFamily="34" charset="0"/>
                <a:ea typeface="Be Vietnam Pro" pitchFamily="34" charset="-122"/>
                <a:cs typeface="Be Vietnam Pro" pitchFamily="34" charset="-120"/>
              </a:rPr>
              <a:t>Nhóm</a:t>
            </a:r>
            <a:r>
              <a:rPr lang="en-US" sz="1400" dirty="0">
                <a:solidFill>
                  <a:srgbClr val="B9C6CF"/>
                </a:solidFill>
                <a:latin typeface="Be Vietnam Pro" pitchFamily="34" charset="0"/>
                <a:ea typeface="Be Vietnam Pro" pitchFamily="34" charset="-122"/>
                <a:cs typeface="Be Vietnam Pro" pitchFamily="34" charset="-120"/>
              </a:rPr>
              <a:t> N09</a:t>
            </a:r>
            <a:endParaRPr lang="en-US" sz="1400" dirty="0"/>
          </a:p>
        </p:txBody>
      </p:sp>
      <p:sp>
        <p:nvSpPr>
          <p:cNvPr id="8" name="Text 6"/>
          <p:cNvSpPr/>
          <p:nvPr/>
        </p:nvSpPr>
        <p:spPr>
          <a:xfrm>
            <a:off x="2103993" y="5796280"/>
            <a:ext cx="1689735" cy="27432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B9C6CF"/>
                </a:solidFill>
                <a:latin typeface="Be Vietnam Pro" pitchFamily="34" charset="0"/>
                <a:ea typeface="Be Vietnam Pro" pitchFamily="34" charset="-122"/>
                <a:cs typeface="Be Vietnam Pro" pitchFamily="34" charset="-120"/>
              </a:rPr>
              <a:t>Nhánh</a:t>
            </a:r>
            <a:r>
              <a:rPr lang="en-US" sz="1400" dirty="0">
                <a:solidFill>
                  <a:srgbClr val="B9C6CF"/>
                </a:solidFill>
                <a:latin typeface="Be Vietnam Pro" pitchFamily="34" charset="0"/>
                <a:ea typeface="Be Vietnam Pro" pitchFamily="34" charset="-122"/>
                <a:cs typeface="Be Vietnam Pro" pitchFamily="34" charset="-120"/>
              </a:rPr>
              <a:t> week-07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5560C"/>
                </a:solidFill>
                <a:latin typeface="Be Vietnam Pro" pitchFamily="34" charset="0"/>
                <a:ea typeface="Be Vietnam Pro" pitchFamily="34" charset="-122"/>
                <a:cs typeface="Be Vietnam Pro" pitchFamily="34" charset="-120"/>
              </a:rPr>
              <a:t>BÀI TOÁN</a:t>
            </a:r>
            <a:endParaRPr lang="en-US" sz="1200" dirty="0"/>
          </a:p>
        </p:txBody>
      </p:sp>
      <p:sp>
        <p:nvSpPr>
          <p:cNvPr id="3" name="Text 1"/>
          <p:cNvSpPr/>
          <p:nvPr>
            <p:ph type="title"/>
          </p:nvPr>
        </p:nvSpPr>
        <p:spPr>
          <a:xfrm>
            <a:off x="812800" y="1102360"/>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4212B"/>
                </a:solidFill>
                <a:latin typeface="Be Vietnam Pro" pitchFamily="34" charset="0"/>
                <a:ea typeface="Be Vietnam Pro" pitchFamily="34" charset="-122"/>
                <a:cs typeface="Be Vietnam Pro" pitchFamily="34" charset="-120"/>
              </a:rPr>
              <a:t>Nội dung chỉ xuất hiện sau khi chờ</a:t>
            </a:r>
            <a:endParaRPr lang="en-US" sz="3200" dirty="0"/>
          </a:p>
        </p:txBody>
      </p:sp>
      <p:sp>
        <p:nvSpPr>
          <p:cNvPr id="4" name="Shape 2"/>
          <p:cNvSpPr/>
          <p:nvPr/>
        </p:nvSpPr>
        <p:spPr>
          <a:xfrm>
            <a:off x="819150" y="1954530"/>
            <a:ext cx="3001407" cy="1384300"/>
          </a:xfrm>
          <a:prstGeom prst="roundRect">
            <a:avLst>
              <a:gd name="adj" fmla="val 8716"/>
            </a:avLst>
          </a:prstGeom>
          <a:solidFill>
            <a:srgbClr val="FFFFFF"/>
          </a:solidFill>
          <a:ln w="12700">
            <a:solidFill>
              <a:srgbClr val="DCD9D0"/>
            </a:solidFill>
            <a:prstDash val="solid"/>
          </a:ln>
        </p:spPr>
      </p:sp>
      <p:sp>
        <p:nvSpPr>
          <p:cNvPr id="5" name="Text 3"/>
          <p:cNvSpPr/>
          <p:nvPr/>
        </p:nvSpPr>
        <p:spPr>
          <a:xfrm>
            <a:off x="1051560" y="2186940"/>
            <a:ext cx="2612684" cy="23876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B5560C"/>
                </a:solidFill>
                <a:latin typeface="Be Vietnam Pro" pitchFamily="34" charset="0"/>
                <a:ea typeface="Be Vietnam Pro" pitchFamily="34" charset="-122"/>
                <a:cs typeface="Be Vietnam Pro" pitchFamily="34" charset="-120"/>
              </a:rPr>
              <a:t>0 giây</a:t>
            </a:r>
            <a:endParaRPr lang="en-US" sz="1200" dirty="0"/>
          </a:p>
        </p:txBody>
      </p:sp>
      <p:sp>
        <p:nvSpPr>
          <p:cNvPr id="6" name="Text 4"/>
          <p:cNvSpPr/>
          <p:nvPr/>
        </p:nvSpPr>
        <p:spPr>
          <a:xfrm>
            <a:off x="1051560" y="2476500"/>
            <a:ext cx="2612684"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4212B"/>
                </a:solidFill>
                <a:latin typeface="Be Vietnam Pro" pitchFamily="34" charset="0"/>
                <a:ea typeface="Be Vietnam Pro" pitchFamily="34" charset="-122"/>
                <a:cs typeface="Be Vietnam Pro" pitchFamily="34" charset="-120"/>
              </a:rPr>
              <a:t>Bấm Start</a:t>
            </a:r>
            <a:endParaRPr lang="en-US" sz="2000" dirty="0"/>
          </a:p>
        </p:txBody>
      </p:sp>
      <p:sp>
        <p:nvSpPr>
          <p:cNvPr id="7" name="Text 5"/>
          <p:cNvSpPr/>
          <p:nvPr/>
        </p:nvSpPr>
        <p:spPr>
          <a:xfrm>
            <a:off x="1051560" y="2857500"/>
            <a:ext cx="2612684"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560"/>
                </a:solidFill>
                <a:latin typeface="Be Vietnam Pro" pitchFamily="34" charset="0"/>
                <a:ea typeface="Be Vietnam Pro" pitchFamily="34" charset="-122"/>
                <a:cs typeface="Be Vietnam Pro" pitchFamily="34" charset="-120"/>
              </a:rPr>
              <a:t>Nút Start bị ẩn đi</a:t>
            </a:r>
            <a:endParaRPr lang="en-US" sz="1400" dirty="0"/>
          </a:p>
        </p:txBody>
      </p:sp>
      <p:pic>
        <p:nvPicPr>
          <p:cNvPr id="8" name="Image 0" descr="arrow-right"/>
          <p:cNvPicPr>
            <a:picLocks noChangeAspect="1"/>
          </p:cNvPicPr>
          <p:nvPr/>
        </p:nvPicPr>
        <p:blipFill>
          <a:blip r:embed="rId1"/>
          <a:srcRect/>
          <a:stretch>
            <a:fillRect/>
          </a:stretch>
        </p:blipFill>
        <p:spPr>
          <a:xfrm>
            <a:off x="3979307" y="2532380"/>
            <a:ext cx="457200" cy="228600"/>
          </a:xfrm>
          <a:prstGeom prst="rect">
            <a:avLst/>
          </a:prstGeom>
        </p:spPr>
      </p:pic>
      <p:sp>
        <p:nvSpPr>
          <p:cNvPr id="9" name="Shape 6"/>
          <p:cNvSpPr/>
          <p:nvPr/>
        </p:nvSpPr>
        <p:spPr>
          <a:xfrm>
            <a:off x="4595257" y="1830070"/>
            <a:ext cx="3001486" cy="1633220"/>
          </a:xfrm>
          <a:prstGeom prst="roundRect">
            <a:avLst>
              <a:gd name="adj" fmla="val 7387"/>
            </a:avLst>
          </a:prstGeom>
          <a:solidFill>
            <a:srgbClr val="FFFFFF"/>
          </a:solidFill>
          <a:ln w="12700">
            <a:solidFill>
              <a:srgbClr val="DCD9D0"/>
            </a:solidFill>
            <a:prstDash val="solid"/>
          </a:ln>
        </p:spPr>
      </p:sp>
      <p:sp>
        <p:nvSpPr>
          <p:cNvPr id="10" name="Text 7"/>
          <p:cNvSpPr/>
          <p:nvPr/>
        </p:nvSpPr>
        <p:spPr>
          <a:xfrm>
            <a:off x="4827667" y="2062480"/>
            <a:ext cx="2612766" cy="23876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B5560C"/>
                </a:solidFill>
                <a:latin typeface="Be Vietnam Pro" pitchFamily="34" charset="0"/>
                <a:ea typeface="Be Vietnam Pro" pitchFamily="34" charset="-122"/>
                <a:cs typeface="Be Vietnam Pro" pitchFamily="34" charset="-120"/>
              </a:rPr>
              <a:t>0 → 5 giây</a:t>
            </a:r>
            <a:endParaRPr lang="en-US" sz="1200" dirty="0"/>
          </a:p>
        </p:txBody>
      </p:sp>
      <p:sp>
        <p:nvSpPr>
          <p:cNvPr id="11" name="Text 8"/>
          <p:cNvSpPr/>
          <p:nvPr/>
        </p:nvSpPr>
        <p:spPr>
          <a:xfrm>
            <a:off x="4827667" y="2352040"/>
            <a:ext cx="2612766"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4212B"/>
                </a:solidFill>
                <a:latin typeface="Be Vietnam Pro" pitchFamily="34" charset="0"/>
                <a:ea typeface="Be Vietnam Pro" pitchFamily="34" charset="-122"/>
                <a:cs typeface="Be Vietnam Pro" pitchFamily="34" charset="-120"/>
              </a:rPr>
              <a:t>Loading…</a:t>
            </a:r>
            <a:endParaRPr lang="en-US" sz="2000" dirty="0"/>
          </a:p>
        </p:txBody>
      </p:sp>
      <p:sp>
        <p:nvSpPr>
          <p:cNvPr id="12" name="Text 9"/>
          <p:cNvSpPr/>
          <p:nvPr/>
        </p:nvSpPr>
        <p:spPr>
          <a:xfrm>
            <a:off x="4827667" y="2733040"/>
            <a:ext cx="2612766"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560"/>
                </a:solidFill>
                <a:latin typeface="Be Vietnam Pro" pitchFamily="34" charset="0"/>
                <a:ea typeface="Be Vietnam Pro" pitchFamily="34" charset="-122"/>
                <a:cs typeface="Be Vietnam Pro" pitchFamily="34" charset="-120"/>
              </a:rPr>
              <a:t>Thanh tải #loading được chèn vào trang</a:t>
            </a:r>
            <a:endParaRPr lang="en-US" sz="1400" dirty="0"/>
          </a:p>
        </p:txBody>
      </p:sp>
      <p:pic>
        <p:nvPicPr>
          <p:cNvPr id="13" name="Image 1" descr="arrow-right"/>
          <p:cNvPicPr>
            <a:picLocks noChangeAspect="1"/>
          </p:cNvPicPr>
          <p:nvPr/>
        </p:nvPicPr>
        <p:blipFill>
          <a:blip r:embed="rId1"/>
          <a:srcRect/>
          <a:stretch>
            <a:fillRect/>
          </a:stretch>
        </p:blipFill>
        <p:spPr>
          <a:xfrm>
            <a:off x="7755493" y="2532380"/>
            <a:ext cx="457200" cy="228600"/>
          </a:xfrm>
          <a:prstGeom prst="rect">
            <a:avLst/>
          </a:prstGeom>
        </p:spPr>
      </p:pic>
      <p:sp>
        <p:nvSpPr>
          <p:cNvPr id="14" name="Shape 10"/>
          <p:cNvSpPr/>
          <p:nvPr/>
        </p:nvSpPr>
        <p:spPr>
          <a:xfrm>
            <a:off x="8371443" y="1830070"/>
            <a:ext cx="3001407" cy="1633220"/>
          </a:xfrm>
          <a:prstGeom prst="roundRect">
            <a:avLst>
              <a:gd name="adj" fmla="val 7387"/>
            </a:avLst>
          </a:prstGeom>
          <a:solidFill>
            <a:srgbClr val="FFFFFF"/>
          </a:solidFill>
          <a:ln w="12700">
            <a:solidFill>
              <a:srgbClr val="DCD9D0"/>
            </a:solidFill>
            <a:prstDash val="solid"/>
          </a:ln>
        </p:spPr>
      </p:sp>
      <p:sp>
        <p:nvSpPr>
          <p:cNvPr id="15" name="Text 11"/>
          <p:cNvSpPr/>
          <p:nvPr/>
        </p:nvSpPr>
        <p:spPr>
          <a:xfrm>
            <a:off x="8603853" y="2062480"/>
            <a:ext cx="2612684" cy="23876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B5560C"/>
                </a:solidFill>
                <a:latin typeface="Be Vietnam Pro" pitchFamily="34" charset="0"/>
                <a:ea typeface="Be Vietnam Pro" pitchFamily="34" charset="-122"/>
                <a:cs typeface="Be Vietnam Pro" pitchFamily="34" charset="-120"/>
              </a:rPr>
              <a:t>≈ 5 giây</a:t>
            </a:r>
            <a:endParaRPr lang="en-US" sz="1200" dirty="0"/>
          </a:p>
        </p:txBody>
      </p:sp>
      <p:sp>
        <p:nvSpPr>
          <p:cNvPr id="16" name="Text 12"/>
          <p:cNvSpPr/>
          <p:nvPr/>
        </p:nvSpPr>
        <p:spPr>
          <a:xfrm>
            <a:off x="8603853" y="2352040"/>
            <a:ext cx="2612684"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4212B"/>
                </a:solidFill>
                <a:latin typeface="Be Vietnam Pro" pitchFamily="34" charset="0"/>
                <a:ea typeface="Be Vietnam Pro" pitchFamily="34" charset="-122"/>
                <a:cs typeface="Be Vietnam Pro" pitchFamily="34" charset="-120"/>
              </a:rPr>
              <a:t>Hello World!</a:t>
            </a:r>
            <a:endParaRPr lang="en-US" sz="2000" dirty="0"/>
          </a:p>
        </p:txBody>
      </p:sp>
      <p:sp>
        <p:nvSpPr>
          <p:cNvPr id="17" name="Text 13"/>
          <p:cNvSpPr/>
          <p:nvPr/>
        </p:nvSpPr>
        <p:spPr>
          <a:xfrm>
            <a:off x="8603853" y="2733040"/>
            <a:ext cx="2612684"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560"/>
                </a:solidFill>
                <a:latin typeface="Be Vietnam Pro" pitchFamily="34" charset="0"/>
                <a:ea typeface="Be Vietnam Pro" pitchFamily="34" charset="-122"/>
                <a:cs typeface="Be Vietnam Pro" pitchFamily="34" charset="-120"/>
              </a:rPr>
              <a:t>#finish hiện ra, #loading bị ẩn</a:t>
            </a:r>
            <a:endParaRPr lang="en-US" sz="1400" dirty="0"/>
          </a:p>
        </p:txBody>
      </p:sp>
      <p:sp>
        <p:nvSpPr>
          <p:cNvPr id="18" name="Text 14"/>
          <p:cNvSpPr/>
          <p:nvPr/>
        </p:nvSpPr>
        <p:spPr>
          <a:xfrm>
            <a:off x="812800" y="3723640"/>
            <a:ext cx="10566400" cy="975360"/>
          </a:xfrm>
          <a:prstGeom prst="roundRect">
            <a:avLst>
              <a:gd name="adj" fmla="val 7813"/>
            </a:avLst>
          </a:prstGeom>
          <a:solidFill>
            <a:srgbClr val="ECEAE3"/>
          </a:solidFill>
        </p:spPr>
        <p:txBody>
          <a:bodyPr wrap="square" lIns="282482" tIns="180882" rIns="0" bIns="155482" rtlCol="0" anchor="t">
            <a:normAutofit/>
          </a:bodyPr>
          <a:lstStyle/>
          <a:p>
            <a:pPr marL="0" indent="0" algn="l">
              <a:lnSpc>
                <a:spcPts val="2240"/>
              </a:lnSpc>
              <a:buNone/>
            </a:pPr>
            <a:r>
              <a:rPr lang="en-US" sz="1600" b="1" dirty="0">
                <a:solidFill>
                  <a:srgbClr val="14212B"/>
                </a:solidFill>
                <a:latin typeface="Be Vietnam Pro" pitchFamily="34" charset="0"/>
                <a:ea typeface="Be Vietnam Pro" pitchFamily="34" charset="-122"/>
                <a:cs typeface="Be Vietnam Pro" pitchFamily="34" charset="-120"/>
              </a:rPr>
              <a:t>Selenium chạy ngay lập tức, không tự đợi trang.</a:t>
            </a:r>
            <a:r>
              <a:rPr lang="en-US" sz="1600" dirty="0">
                <a:solidFill>
                  <a:srgbClr val="14212B"/>
                </a:solidFill>
                <a:latin typeface="Be Vietnam Pro" pitchFamily="34" charset="0"/>
                <a:ea typeface="Be Vietnam Pro" pitchFamily="34" charset="-122"/>
                <a:cs typeface="Be Vietnam Pro" pitchFamily="34" charset="-120"/>
              </a:rPr>
              <a:t> Tìm phần tử lúc đang “Loading…” thì hoặc không thấy (báo lỗi), hoặc thấy nhưng nó chưa hiển thị.</a:t>
            </a:r>
            <a:endParaRPr lang="en-US" sz="1600" dirty="0"/>
          </a:p>
        </p:txBody>
      </p:sp>
      <p:sp>
        <p:nvSpPr>
          <p:cNvPr id="19" name="Shape 15"/>
          <p:cNvSpPr/>
          <p:nvPr/>
        </p:nvSpPr>
        <p:spPr>
          <a:xfrm>
            <a:off x="812800" y="3723640"/>
            <a:ext cx="10566400" cy="975360"/>
          </a:xfrm>
          <a:custGeom>
            <a:avLst/>
            <a:gdLst/>
            <a:ahLst/>
            <a:cxnLst/>
            <a:rect l="l" t="t" r="r" b="b"/>
            <a:pathLst>
              <a:path w="10566400" h="975360">
                <a:moveTo>
                  <a:pt x="76200" y="975360"/>
                </a:moveTo>
                <a:lnTo>
                  <a:pt x="76200" y="975360"/>
                </a:lnTo>
                <a:arcTo wR="76200" hR="76200" stAng="5400000" swAng="5400000"/>
                <a:lnTo>
                  <a:pt x="0" y="76200"/>
                </a:lnTo>
                <a:arcTo wR="76200" hR="76200" stAng="10800000" swAng="5400000"/>
                <a:lnTo>
                  <a:pt x="76200" y="0"/>
                </a:lnTo>
                <a:arcTo wR="25400" hR="76200" stAng="16200000" swAng="-5400000"/>
                <a:lnTo>
                  <a:pt x="50800" y="899160"/>
                </a:lnTo>
                <a:arcTo wR="25400" hR="76200" stAng="10800000" swAng="-5400000"/>
                <a:close/>
              </a:path>
            </a:pathLst>
          </a:custGeom>
          <a:solidFill>
            <a:srgbClr val="B5560C"/>
          </a:solidFill>
        </p:spPr>
      </p:sp>
      <p:sp>
        <p:nvSpPr>
          <p:cNvPr id="20" name="Text 16"/>
          <p:cNvSpPr/>
          <p:nvPr/>
        </p:nvSpPr>
        <p:spPr>
          <a:xfrm>
            <a:off x="812800" y="4953000"/>
            <a:ext cx="10883392"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560"/>
                </a:solidFill>
                <a:latin typeface="Be Vietnam Pro" pitchFamily="34" charset="0"/>
                <a:ea typeface="Be Vietnam Pro" pitchFamily="34" charset="-122"/>
                <a:cs typeface="Be Vietnam Pro" pitchFamily="34" charset="-120"/>
              </a:rPr>
              <a:t>Trang thực hành: the-internet.herokuapp.com/dynamic_loading/1 và /dynamic_loading/2</a:t>
            </a:r>
            <a:endParaRPr lang="en-US" sz="1300" dirty="0"/>
          </a:p>
        </p:txBody>
      </p:sp>
      <p:sp>
        <p:nvSpPr>
          <p:cNvPr id="21" name="Text 17"/>
          <p:cNvSpPr/>
          <p:nvPr/>
        </p:nvSpPr>
        <p:spPr>
          <a:xfrm>
            <a:off x="812800" y="6238241"/>
            <a:ext cx="78486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Tuần 7 – W1 · Tải nội dung động · Nhóm N09</a:t>
            </a:r>
            <a:endParaRPr lang="en-US" sz="1200" dirty="0"/>
          </a:p>
        </p:txBody>
      </p:sp>
      <p:sp>
        <p:nvSpPr>
          <p:cNvPr id="22" name="Text 18"/>
          <p:cNvSpPr/>
          <p:nvPr/>
        </p:nvSpPr>
        <p:spPr>
          <a:xfrm>
            <a:off x="10058400" y="6238241"/>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5560C"/>
                </a:solidFill>
                <a:latin typeface="Be Vietnam Pro" pitchFamily="34" charset="0"/>
                <a:ea typeface="Be Vietnam Pro" pitchFamily="34" charset="-122"/>
                <a:cs typeface="Be Vietnam Pro" pitchFamily="34" charset="-120"/>
              </a:rPr>
              <a:t>HAI TRANG THỰC HÀNH</a:t>
            </a:r>
            <a:endParaRPr lang="en-US" sz="1200" dirty="0"/>
          </a:p>
        </p:txBody>
      </p:sp>
      <p:sp>
        <p:nvSpPr>
          <p:cNvPr id="3" name="Text 1"/>
          <p:cNvSpPr/>
          <p:nvPr>
            <p:ph type="title"/>
          </p:nvPr>
        </p:nvSpPr>
        <p:spPr>
          <a:xfrm>
            <a:off x="812800" y="1102361"/>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4212B"/>
                </a:solidFill>
                <a:latin typeface="Be Vietnam Pro" pitchFamily="34" charset="0"/>
                <a:ea typeface="Be Vietnam Pro" pitchFamily="34" charset="-122"/>
                <a:cs typeface="Be Vietnam Pro" pitchFamily="34" charset="-120"/>
              </a:rPr>
              <a:t>Cùng kết quả, hai cách tải khác nhau</a:t>
            </a:r>
            <a:endParaRPr lang="en-US" sz="3200" dirty="0"/>
          </a:p>
        </p:txBody>
      </p:sp>
      <p:sp>
        <p:nvSpPr>
          <p:cNvPr id="4" name="Shape 2"/>
          <p:cNvSpPr/>
          <p:nvPr/>
        </p:nvSpPr>
        <p:spPr>
          <a:xfrm>
            <a:off x="819150" y="1830070"/>
            <a:ext cx="5168900" cy="3004820"/>
          </a:xfrm>
          <a:prstGeom prst="roundRect">
            <a:avLst>
              <a:gd name="adj" fmla="val 4015"/>
            </a:avLst>
          </a:prstGeom>
          <a:solidFill>
            <a:srgbClr val="FFFFFF"/>
          </a:solidFill>
          <a:ln w="12700">
            <a:solidFill>
              <a:srgbClr val="DCD9D0"/>
            </a:solidFill>
            <a:prstDash val="solid"/>
          </a:ln>
        </p:spPr>
      </p:sp>
      <p:sp>
        <p:nvSpPr>
          <p:cNvPr id="5" name="Text 3"/>
          <p:cNvSpPr/>
          <p:nvPr/>
        </p:nvSpPr>
        <p:spPr>
          <a:xfrm>
            <a:off x="1051560" y="2062480"/>
            <a:ext cx="4845202" cy="23876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6FB5"/>
                </a:solidFill>
                <a:latin typeface="Be Vietnam Pro" pitchFamily="34" charset="0"/>
                <a:ea typeface="Be Vietnam Pro" pitchFamily="34" charset="-122"/>
                <a:cs typeface="Be Vietnam Pro" pitchFamily="34" charset="-120"/>
              </a:rPr>
              <a:t>Ví dụ 1 · /dynamic_loading/1</a:t>
            </a:r>
            <a:endParaRPr lang="en-US" sz="1200" dirty="0"/>
          </a:p>
        </p:txBody>
      </p:sp>
      <p:sp>
        <p:nvSpPr>
          <p:cNvPr id="6" name="Text 4"/>
          <p:cNvSpPr/>
          <p:nvPr/>
        </p:nvSpPr>
        <p:spPr>
          <a:xfrm>
            <a:off x="1051560" y="2377441"/>
            <a:ext cx="4845202"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4212B"/>
                </a:solidFill>
                <a:latin typeface="Be Vietnam Pro" pitchFamily="34" charset="0"/>
                <a:ea typeface="Be Vietnam Pro" pitchFamily="34" charset="-122"/>
                <a:cs typeface="Be Vietnam Pro" pitchFamily="34" charset="-120"/>
              </a:rPr>
              <a:t>Có sẵn nhưng bị ẩn</a:t>
            </a:r>
            <a:endParaRPr lang="en-US" sz="2000" dirty="0"/>
          </a:p>
        </p:txBody>
      </p:sp>
      <p:sp>
        <p:nvSpPr>
          <p:cNvPr id="7" name="Text 5"/>
          <p:cNvSpPr/>
          <p:nvPr/>
        </p:nvSpPr>
        <p:spPr>
          <a:xfrm>
            <a:off x="1051560" y="2783841"/>
            <a:ext cx="4704080" cy="990600"/>
          </a:xfrm>
          <a:prstGeom prst="roundRect">
            <a:avLst>
              <a:gd name="adj" fmla="val 7692"/>
            </a:avLst>
          </a:prstGeom>
          <a:solidFill>
            <a:srgbClr val="14212B"/>
          </a:solidFill>
        </p:spPr>
        <p:txBody>
          <a:bodyPr wrap="none" lIns="130082" tIns="130082" rIns="0" bIns="104682" rtlCol="0" anchor="t">
            <a:normAutofit/>
          </a:bodyPr>
          <a:lstStyle/>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&lt;div id="finish" style="display:none"&gt;</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  &lt;h4&gt;Hello World!&lt;/h4&gt;</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&lt;/div&gt;</a:t>
            </a:r>
            <a:endParaRPr lang="en-US" sz="1200" dirty="0"/>
          </a:p>
        </p:txBody>
      </p:sp>
      <p:sp>
        <p:nvSpPr>
          <p:cNvPr id="8" name="Text 6"/>
          <p:cNvSpPr/>
          <p:nvPr/>
        </p:nvSpPr>
        <p:spPr>
          <a:xfrm>
            <a:off x="1136142" y="3876041"/>
            <a:ext cx="4753000" cy="523240"/>
          </a:xfrm>
          <a:prstGeom prst="rect">
            <a:avLst/>
          </a:prstGeom>
          <a:noFill/>
        </p:spPr>
        <p:txBody>
          <a:bodyPr wrap="square" lIns="0" tIns="0" rIns="0" bIns="0" rtlCol="0" anchor="t">
            <a:normAutofit/>
          </a:bodyPr>
          <a:lstStyle/>
          <a:p>
            <a:pPr marL="169545" indent="-169545" algn="l">
              <a:lnSpc>
                <a:spcPts val="1960"/>
              </a:lnSpc>
              <a:buSzPct val="100000"/>
              <a:buChar char="•"/>
            </a:pPr>
            <a:r>
              <a:rPr lang="en-US" sz="1400" dirty="0">
                <a:solidFill>
                  <a:srgbClr val="4A5560"/>
                </a:solidFill>
                <a:latin typeface="Be Vietnam Pro" pitchFamily="34" charset="0"/>
                <a:ea typeface="Be Vietnam Pro" pitchFamily="34" charset="-122"/>
                <a:cs typeface="Be Vietnam Pro" pitchFamily="34" charset="-120"/>
              </a:rPr>
              <a:t>Có trong DOM ngay khi mở trang</a:t>
            </a:r>
            <a:endParaRPr lang="en-US" sz="1400" dirty="0"/>
          </a:p>
          <a:p>
            <a:pPr marL="169545" indent="-169545" algn="l">
              <a:lnSpc>
                <a:spcPts val="1960"/>
              </a:lnSpc>
              <a:buSzPct val="100000"/>
              <a:buChar char="•"/>
            </a:pPr>
            <a:r>
              <a:rPr lang="en-US" sz="1400" dirty="0">
                <a:solidFill>
                  <a:srgbClr val="4A5560"/>
                </a:solidFill>
                <a:latin typeface="Be Vietnam Pro" pitchFamily="34" charset="0"/>
                <a:ea typeface="Be Vietnam Pro" pitchFamily="34" charset="-122"/>
                <a:cs typeface="Be Vietnam Pro" pitchFamily="34" charset="-120"/>
              </a:rPr>
              <a:t>Bấm Start → 5 giây sau mới hiển thị</a:t>
            </a:r>
            <a:endParaRPr lang="en-US" sz="1400" dirty="0"/>
          </a:p>
        </p:txBody>
      </p:sp>
      <p:sp>
        <p:nvSpPr>
          <p:cNvPr id="9" name="Shape 7"/>
          <p:cNvSpPr/>
          <p:nvPr/>
        </p:nvSpPr>
        <p:spPr>
          <a:xfrm>
            <a:off x="6203950" y="1830070"/>
            <a:ext cx="5168900" cy="3004820"/>
          </a:xfrm>
          <a:prstGeom prst="roundRect">
            <a:avLst>
              <a:gd name="adj" fmla="val 4015"/>
            </a:avLst>
          </a:prstGeom>
          <a:solidFill>
            <a:srgbClr val="FFFFFF"/>
          </a:solidFill>
          <a:ln w="12700">
            <a:solidFill>
              <a:srgbClr val="DCD9D0"/>
            </a:solidFill>
            <a:prstDash val="solid"/>
          </a:ln>
        </p:spPr>
      </p:sp>
      <p:sp>
        <p:nvSpPr>
          <p:cNvPr id="10" name="Text 8"/>
          <p:cNvSpPr/>
          <p:nvPr/>
        </p:nvSpPr>
        <p:spPr>
          <a:xfrm>
            <a:off x="6436360" y="2062480"/>
            <a:ext cx="4845202" cy="23876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F6FB5"/>
                </a:solidFill>
                <a:latin typeface="Be Vietnam Pro" pitchFamily="34" charset="0"/>
                <a:ea typeface="Be Vietnam Pro" pitchFamily="34" charset="-122"/>
                <a:cs typeface="Be Vietnam Pro" pitchFamily="34" charset="-120"/>
              </a:rPr>
              <a:t>Ví dụ 2 · /dynamic_loading/2</a:t>
            </a:r>
            <a:endParaRPr lang="en-US" sz="1200" dirty="0"/>
          </a:p>
        </p:txBody>
      </p:sp>
      <p:sp>
        <p:nvSpPr>
          <p:cNvPr id="11" name="Text 9"/>
          <p:cNvSpPr/>
          <p:nvPr/>
        </p:nvSpPr>
        <p:spPr>
          <a:xfrm>
            <a:off x="6436360" y="2377441"/>
            <a:ext cx="4845202"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4212B"/>
                </a:solidFill>
                <a:latin typeface="Be Vietnam Pro" pitchFamily="34" charset="0"/>
                <a:ea typeface="Be Vietnam Pro" pitchFamily="34" charset="-122"/>
                <a:cs typeface="Be Vietnam Pro" pitchFamily="34" charset="-120"/>
              </a:rPr>
              <a:t>Chưa có, thêm vào sau</a:t>
            </a:r>
            <a:endParaRPr lang="en-US" sz="2000" dirty="0"/>
          </a:p>
        </p:txBody>
      </p:sp>
      <p:sp>
        <p:nvSpPr>
          <p:cNvPr id="12" name="Text 10"/>
          <p:cNvSpPr/>
          <p:nvPr/>
        </p:nvSpPr>
        <p:spPr>
          <a:xfrm>
            <a:off x="6436360" y="2783841"/>
            <a:ext cx="4704080" cy="1219200"/>
          </a:xfrm>
          <a:prstGeom prst="roundRect">
            <a:avLst>
              <a:gd name="adj" fmla="val 6250"/>
            </a:avLst>
          </a:prstGeom>
          <a:solidFill>
            <a:srgbClr val="14212B"/>
          </a:solidFill>
        </p:spPr>
        <p:txBody>
          <a:bodyPr wrap="none" lIns="130081" tIns="130082" rIns="0" bIns="104682" rtlCol="0" anchor="t">
            <a:normAutofit/>
          </a:bodyPr>
          <a:lstStyle/>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&lt;!-- lúc đầu: không có #finish --&gt;</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&lt;div id="finish"&gt;</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  &lt;h4&gt;Hello World!&lt;/h4&gt;</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&lt;/div&gt;  &lt;!-- chèn sau 5s --&gt;</a:t>
            </a:r>
            <a:endParaRPr lang="en-US" sz="1200" dirty="0"/>
          </a:p>
        </p:txBody>
      </p:sp>
      <p:sp>
        <p:nvSpPr>
          <p:cNvPr id="13" name="Text 11"/>
          <p:cNvSpPr/>
          <p:nvPr/>
        </p:nvSpPr>
        <p:spPr>
          <a:xfrm>
            <a:off x="6520942" y="4104641"/>
            <a:ext cx="4753000" cy="523240"/>
          </a:xfrm>
          <a:prstGeom prst="rect">
            <a:avLst/>
          </a:prstGeom>
          <a:noFill/>
        </p:spPr>
        <p:txBody>
          <a:bodyPr wrap="square" lIns="0" tIns="0" rIns="0" bIns="0" rtlCol="0" anchor="t">
            <a:normAutofit/>
          </a:bodyPr>
          <a:lstStyle/>
          <a:p>
            <a:pPr marL="169545" indent="-169545" algn="l">
              <a:lnSpc>
                <a:spcPts val="1960"/>
              </a:lnSpc>
              <a:buSzPct val="100000"/>
              <a:buChar char="•"/>
            </a:pPr>
            <a:r>
              <a:rPr lang="en-US" sz="1400" dirty="0">
                <a:solidFill>
                  <a:srgbClr val="4A5560"/>
                </a:solidFill>
                <a:latin typeface="Be Vietnam Pro" pitchFamily="34" charset="0"/>
                <a:ea typeface="Be Vietnam Pro" pitchFamily="34" charset="-122"/>
                <a:cs typeface="Be Vietnam Pro" pitchFamily="34" charset="-120"/>
              </a:rPr>
              <a:t>Trước khi bấm: find_elements → []</a:t>
            </a:r>
            <a:endParaRPr lang="en-US" sz="1400" dirty="0"/>
          </a:p>
          <a:p>
            <a:pPr marL="169545" indent="-169545" algn="l">
              <a:lnSpc>
                <a:spcPts val="1960"/>
              </a:lnSpc>
              <a:buSzPct val="100000"/>
              <a:buChar char="•"/>
            </a:pPr>
            <a:r>
              <a:rPr lang="en-US" sz="1400" dirty="0">
                <a:solidFill>
                  <a:srgbClr val="4A5560"/>
                </a:solidFill>
                <a:latin typeface="Be Vietnam Pro" pitchFamily="34" charset="0"/>
                <a:ea typeface="Be Vietnam Pro" pitchFamily="34" charset="-122"/>
                <a:cs typeface="Be Vietnam Pro" pitchFamily="34" charset="-120"/>
              </a:rPr>
              <a:t>Bấm Start → 5 giây sau mới chèn vào DOM</a:t>
            </a:r>
            <a:endParaRPr lang="en-US" sz="1400" dirty="0"/>
          </a:p>
        </p:txBody>
      </p:sp>
      <p:sp>
        <p:nvSpPr>
          <p:cNvPr id="14" name="Text 12"/>
          <p:cNvSpPr/>
          <p:nvPr/>
        </p:nvSpPr>
        <p:spPr>
          <a:xfrm>
            <a:off x="812800" y="5095241"/>
            <a:ext cx="10883392" cy="309880"/>
          </a:xfrm>
          <a:prstGeom prst="rect">
            <a:avLst/>
          </a:prstGeom>
          <a:noFill/>
        </p:spPr>
        <p:txBody>
          <a:bodyPr wrap="square" lIns="0" tIns="0" rIns="0" bIns="0" rtlCol="0" anchor="t">
            <a:normAutofit/>
          </a:bodyPr>
          <a:lstStyle/>
          <a:p>
            <a:pPr marL="0" indent="0" algn="l">
              <a:lnSpc>
                <a:spcPts val="2240"/>
              </a:lnSpc>
              <a:buNone/>
            </a:pPr>
            <a:r>
              <a:rPr lang="en-US" sz="1600" b="1" dirty="0">
                <a:solidFill>
                  <a:srgbClr val="14212B"/>
                </a:solidFill>
                <a:latin typeface="Be Vietnam Pro" pitchFamily="34" charset="0"/>
                <a:ea typeface="Be Vietnam Pro" pitchFamily="34" charset="-122"/>
                <a:cs typeface="Be Vietnam Pro" pitchFamily="34" charset="-120"/>
              </a:rPr>
              <a:t>→ Phải phân biệt:</a:t>
            </a:r>
            <a:r>
              <a:rPr lang="en-US" sz="1600" dirty="0">
                <a:solidFill>
                  <a:srgbClr val="14212B"/>
                </a:solidFill>
                <a:latin typeface="Be Vietnam Pro" pitchFamily="34" charset="0"/>
                <a:ea typeface="Be Vietnam Pro" pitchFamily="34" charset="-122"/>
                <a:cs typeface="Be Vietnam Pro" pitchFamily="34" charset="-120"/>
              </a:rPr>
              <a:t> </a:t>
            </a:r>
            <a:r>
              <a:rPr lang="en-US" sz="1600" dirty="0">
                <a:solidFill>
                  <a:srgbClr val="2F6FB5"/>
                </a:solidFill>
                <a:latin typeface="Be Vietnam Pro" pitchFamily="34" charset="0"/>
                <a:ea typeface="Be Vietnam Pro" pitchFamily="34" charset="-122"/>
                <a:cs typeface="Be Vietnam Pro" pitchFamily="34" charset="-120"/>
              </a:rPr>
              <a:t>có mặt trong DOM</a:t>
            </a:r>
            <a:r>
              <a:rPr lang="en-US" sz="1600" dirty="0">
                <a:solidFill>
                  <a:srgbClr val="14212B"/>
                </a:solidFill>
                <a:latin typeface="Be Vietnam Pro" pitchFamily="34" charset="0"/>
                <a:ea typeface="Be Vietnam Pro" pitchFamily="34" charset="-122"/>
                <a:cs typeface="Be Vietnam Pro" pitchFamily="34" charset="-120"/>
              </a:rPr>
              <a:t> (presence) và </a:t>
            </a:r>
            <a:r>
              <a:rPr lang="en-US" sz="1600" dirty="0">
                <a:solidFill>
                  <a:srgbClr val="B5560C"/>
                </a:solidFill>
                <a:latin typeface="Be Vietnam Pro" pitchFamily="34" charset="0"/>
                <a:ea typeface="Be Vietnam Pro" pitchFamily="34" charset="-122"/>
                <a:cs typeface="Be Vietnam Pro" pitchFamily="34" charset="-120"/>
              </a:rPr>
              <a:t>đang hiển thị</a:t>
            </a:r>
            <a:r>
              <a:rPr lang="en-US" sz="1600" dirty="0">
                <a:solidFill>
                  <a:srgbClr val="14212B"/>
                </a:solidFill>
                <a:latin typeface="Be Vietnam Pro" pitchFamily="34" charset="0"/>
                <a:ea typeface="Be Vietnam Pro" pitchFamily="34" charset="-122"/>
                <a:cs typeface="Be Vietnam Pro" pitchFamily="34" charset="-120"/>
              </a:rPr>
              <a:t> (visibility).</a:t>
            </a:r>
            <a:endParaRPr lang="en-US" sz="1600" dirty="0"/>
          </a:p>
        </p:txBody>
      </p:sp>
      <p:sp>
        <p:nvSpPr>
          <p:cNvPr id="15" name="Text 13"/>
          <p:cNvSpPr/>
          <p:nvPr/>
        </p:nvSpPr>
        <p:spPr>
          <a:xfrm>
            <a:off x="812800" y="6238241"/>
            <a:ext cx="78486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Tuần 7 – W1 · Tải nội dung động · Nhóm N09</a:t>
            </a:r>
            <a:endParaRPr lang="en-US" sz="1200" dirty="0"/>
          </a:p>
        </p:txBody>
      </p:sp>
      <p:sp>
        <p:nvSpPr>
          <p:cNvPr id="16" name="Text 14"/>
          <p:cNvSpPr/>
          <p:nvPr/>
        </p:nvSpPr>
        <p:spPr>
          <a:xfrm>
            <a:off x="10058400" y="6238241"/>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9A460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F7DCC5"/>
                </a:solidFill>
                <a:latin typeface="Be Vietnam Pro" pitchFamily="34" charset="0"/>
                <a:ea typeface="Be Vietnam Pro" pitchFamily="34" charset="-122"/>
                <a:cs typeface="Be Vietnam Pro" pitchFamily="34" charset="-120"/>
              </a:rPr>
              <a:t>VÌ SAO KHÔNG DÙNG TIME.SLEEP()?</a:t>
            </a:r>
            <a:endParaRPr lang="en-US" sz="1200" dirty="0"/>
          </a:p>
        </p:txBody>
      </p:sp>
      <p:sp>
        <p:nvSpPr>
          <p:cNvPr id="3" name="Text 1"/>
          <p:cNvSpPr/>
          <p:nvPr>
            <p:ph type="title"/>
          </p:nvPr>
        </p:nvSpPr>
        <p:spPr>
          <a:xfrm>
            <a:off x="812800" y="1127761"/>
            <a:ext cx="10883392" cy="1143000"/>
          </a:xfrm>
          <a:prstGeom prst="rect">
            <a:avLst/>
          </a:prstGeom>
          <a:noFill/>
        </p:spPr>
        <p:txBody>
          <a:bodyPr wrap="square" lIns="0" tIns="0" rIns="0" bIns="0" rtlCol="0" anchor="t">
            <a:normAutofit/>
          </a:bodyPr>
          <a:lstStyle/>
          <a:p>
            <a:pPr marL="0" indent="0" algn="l">
              <a:lnSpc>
                <a:spcPts val="4400"/>
              </a:lnSpc>
              <a:buNone/>
            </a:pPr>
            <a:r>
              <a:rPr lang="en-US" sz="4000" b="1" i="0" dirty="0">
                <a:solidFill>
                  <a:srgbClr val="FFF6EC"/>
                </a:solidFill>
                <a:latin typeface="Be Vietnam Pro" pitchFamily="34" charset="0"/>
                <a:ea typeface="Be Vietnam Pro" pitchFamily="34" charset="-122"/>
                <a:cs typeface="Be Vietnam Pro" pitchFamily="34" charset="-120"/>
              </a:rPr>
              <a:t>Chờ theo điều kiện,</a:t>
            </a:r>
            <a:endParaRPr lang="en-US" sz="4000" dirty="0"/>
          </a:p>
          <a:p>
            <a:pPr marL="0" indent="0" algn="l">
              <a:lnSpc>
                <a:spcPts val="4400"/>
              </a:lnSpc>
              <a:buNone/>
            </a:pPr>
            <a:r>
              <a:rPr lang="en-US" sz="4000" b="1" i="0" dirty="0">
                <a:solidFill>
                  <a:srgbClr val="FFF6EC"/>
                </a:solidFill>
                <a:latin typeface="Be Vietnam Pro" pitchFamily="34" charset="0"/>
                <a:ea typeface="Be Vietnam Pro" pitchFamily="34" charset="-122"/>
                <a:cs typeface="Be Vietnam Pro" pitchFamily="34" charset="-120"/>
              </a:rPr>
              <a:t>không chờ theo đồng hồ</a:t>
            </a:r>
            <a:endParaRPr lang="en-US" sz="4000" dirty="0"/>
          </a:p>
        </p:txBody>
      </p:sp>
      <p:sp>
        <p:nvSpPr>
          <p:cNvPr id="4" name="Shape 2"/>
          <p:cNvSpPr/>
          <p:nvPr/>
        </p:nvSpPr>
        <p:spPr>
          <a:xfrm>
            <a:off x="812800" y="3244216"/>
            <a:ext cx="5080000" cy="0"/>
          </a:xfrm>
          <a:prstGeom prst="line">
            <a:avLst/>
          </a:prstGeom>
          <a:noFill/>
          <a:ln w="19050">
            <a:solidFill>
              <a:srgbClr val="F7DCC5"/>
            </a:solidFill>
            <a:prstDash val="solid"/>
          </a:ln>
        </p:spPr>
      </p:sp>
      <p:sp>
        <p:nvSpPr>
          <p:cNvPr id="5" name="Text 3"/>
          <p:cNvSpPr/>
          <p:nvPr/>
        </p:nvSpPr>
        <p:spPr>
          <a:xfrm>
            <a:off x="812800" y="3427730"/>
            <a:ext cx="5232400"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FF6EC"/>
                </a:solidFill>
                <a:latin typeface="JetBrains Mono" panose="02000009000000000000" pitchFamily="49" charset="0"/>
                <a:ea typeface="JetBrains Mono" panose="02000009000000000000" pitchFamily="49" charset="-122"/>
                <a:cs typeface="JetBrains Mono" panose="02000009000000000000" pitchFamily="49" charset="-120"/>
              </a:rPr>
              <a:t>time.sleep(5)</a:t>
            </a:r>
            <a:endParaRPr lang="en-US" sz="1800" dirty="0"/>
          </a:p>
        </p:txBody>
      </p:sp>
      <p:sp>
        <p:nvSpPr>
          <p:cNvPr id="6" name="Text 4"/>
          <p:cNvSpPr/>
          <p:nvPr/>
        </p:nvSpPr>
        <p:spPr>
          <a:xfrm>
            <a:off x="883920" y="3803650"/>
            <a:ext cx="5153660" cy="825500"/>
          </a:xfrm>
          <a:prstGeom prst="rect">
            <a:avLst/>
          </a:prstGeom>
          <a:noFill/>
        </p:spPr>
        <p:txBody>
          <a:bodyPr wrap="square" lIns="0" tIns="0" rIns="0" bIns="0" rtlCol="0" anchor="t">
            <a:normAutofit/>
          </a:bodyPr>
          <a:lstStyle/>
          <a:p>
            <a:pPr marL="182880" indent="-182880" algn="l">
              <a:lnSpc>
                <a:spcPts val="2100"/>
              </a:lnSpc>
              <a:buSzPct val="100000"/>
              <a:buChar char="•"/>
            </a:pPr>
            <a:r>
              <a:rPr lang="en-US" sz="1500" dirty="0">
                <a:solidFill>
                  <a:srgbClr val="F7DCC5"/>
                </a:solidFill>
                <a:latin typeface="Be Vietnam Pro" pitchFamily="34" charset="0"/>
                <a:ea typeface="Be Vietnam Pro" pitchFamily="34" charset="-122"/>
                <a:cs typeface="Be Vietnam Pro" pitchFamily="34" charset="-120"/>
              </a:rPr>
              <a:t>Luôn đứng yên đủ 5 giây</a:t>
            </a:r>
            <a:endParaRPr lang="en-US" sz="1500" dirty="0"/>
          </a:p>
          <a:p>
            <a:pPr marL="182880" indent="-182880" algn="l">
              <a:lnSpc>
                <a:spcPts val="2100"/>
              </a:lnSpc>
              <a:buSzPct val="100000"/>
              <a:buChar char="•"/>
            </a:pPr>
            <a:r>
              <a:rPr lang="en-US" sz="1500" dirty="0">
                <a:solidFill>
                  <a:srgbClr val="F7DCC5"/>
                </a:solidFill>
                <a:latin typeface="Be Vietnam Pro" pitchFamily="34" charset="0"/>
                <a:ea typeface="Be Vietnam Pro" pitchFamily="34" charset="-122"/>
                <a:cs typeface="Be Vietnam Pro" pitchFamily="34" charset="-120"/>
              </a:rPr>
              <a:t>Trang nhanh hơn → phí thời gian</a:t>
            </a:r>
            <a:endParaRPr lang="en-US" sz="1500" dirty="0"/>
          </a:p>
          <a:p>
            <a:pPr marL="182880" indent="-182880" algn="l">
              <a:lnSpc>
                <a:spcPts val="2100"/>
              </a:lnSpc>
              <a:buSzPct val="100000"/>
              <a:buChar char="•"/>
            </a:pPr>
            <a:r>
              <a:rPr lang="en-US" sz="1500" dirty="0">
                <a:solidFill>
                  <a:srgbClr val="F7DCC5"/>
                </a:solidFill>
                <a:latin typeface="Be Vietnam Pro" pitchFamily="34" charset="0"/>
                <a:ea typeface="Be Vietnam Pro" pitchFamily="34" charset="-122"/>
                <a:cs typeface="Be Vietnam Pro" pitchFamily="34" charset="-120"/>
              </a:rPr>
              <a:t>Trang chậm hơn 5 giây → test lỗi</a:t>
            </a:r>
            <a:endParaRPr lang="en-US" sz="1500" dirty="0"/>
          </a:p>
        </p:txBody>
      </p:sp>
      <p:sp>
        <p:nvSpPr>
          <p:cNvPr id="7" name="Shape 5"/>
          <p:cNvSpPr/>
          <p:nvPr/>
        </p:nvSpPr>
        <p:spPr>
          <a:xfrm>
            <a:off x="6299200" y="3244216"/>
            <a:ext cx="5080000" cy="0"/>
          </a:xfrm>
          <a:prstGeom prst="line">
            <a:avLst/>
          </a:prstGeom>
          <a:noFill/>
          <a:ln w="19050">
            <a:solidFill>
              <a:srgbClr val="FFF6EC"/>
            </a:solidFill>
            <a:prstDash val="solid"/>
          </a:ln>
        </p:spPr>
      </p:sp>
      <p:sp>
        <p:nvSpPr>
          <p:cNvPr id="8" name="Text 6"/>
          <p:cNvSpPr/>
          <p:nvPr/>
        </p:nvSpPr>
        <p:spPr>
          <a:xfrm>
            <a:off x="6299200" y="3427730"/>
            <a:ext cx="5232400"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FFF6EC"/>
                </a:solidFill>
                <a:latin typeface="JetBrains Mono" panose="02000009000000000000" pitchFamily="49" charset="0"/>
                <a:ea typeface="JetBrains Mono" panose="02000009000000000000" pitchFamily="49" charset="-122"/>
                <a:cs typeface="JetBrains Mono" panose="02000009000000000000" pitchFamily="49" charset="-120"/>
              </a:rPr>
              <a:t>WebDriverWait(driver, 10)</a:t>
            </a:r>
            <a:endParaRPr lang="en-US" sz="1800" dirty="0"/>
          </a:p>
        </p:txBody>
      </p:sp>
      <p:sp>
        <p:nvSpPr>
          <p:cNvPr id="9" name="Text 7"/>
          <p:cNvSpPr/>
          <p:nvPr/>
        </p:nvSpPr>
        <p:spPr>
          <a:xfrm>
            <a:off x="6370320" y="3803650"/>
            <a:ext cx="5153660" cy="825500"/>
          </a:xfrm>
          <a:prstGeom prst="rect">
            <a:avLst/>
          </a:prstGeom>
          <a:noFill/>
        </p:spPr>
        <p:txBody>
          <a:bodyPr wrap="square" lIns="0" tIns="0" rIns="0" bIns="0" rtlCol="0" anchor="t">
            <a:normAutofit/>
          </a:bodyPr>
          <a:lstStyle/>
          <a:p>
            <a:pPr marL="182880" indent="-182880" algn="l">
              <a:lnSpc>
                <a:spcPts val="2100"/>
              </a:lnSpc>
              <a:buSzPct val="100000"/>
              <a:buChar char="•"/>
            </a:pPr>
            <a:r>
              <a:rPr lang="en-US" sz="1500" dirty="0">
                <a:solidFill>
                  <a:srgbClr val="FFF6EC"/>
                </a:solidFill>
                <a:latin typeface="Be Vietnam Pro" pitchFamily="34" charset="0"/>
                <a:ea typeface="Be Vietnam Pro" pitchFamily="34" charset="-122"/>
                <a:cs typeface="Be Vietnam Pro" pitchFamily="34" charset="-120"/>
              </a:rPr>
              <a:t>Kiểm tra lại mỗi 0,5 giây</a:t>
            </a:r>
            <a:endParaRPr lang="en-US" sz="1500" dirty="0"/>
          </a:p>
          <a:p>
            <a:pPr marL="182880" indent="-182880" algn="l">
              <a:lnSpc>
                <a:spcPts val="2100"/>
              </a:lnSpc>
              <a:buSzPct val="100000"/>
              <a:buChar char="•"/>
            </a:pPr>
            <a:r>
              <a:rPr lang="en-US" sz="1500" dirty="0">
                <a:solidFill>
                  <a:srgbClr val="FFF6EC"/>
                </a:solidFill>
                <a:latin typeface="Be Vietnam Pro" pitchFamily="34" charset="0"/>
                <a:ea typeface="Be Vietnam Pro" pitchFamily="34" charset="-122"/>
                <a:cs typeface="Be Vietnam Pro" pitchFamily="34" charset="-120"/>
              </a:rPr>
              <a:t>Điều kiện đúng → chạy tiếp ngay</a:t>
            </a:r>
            <a:endParaRPr lang="en-US" sz="1500" dirty="0"/>
          </a:p>
          <a:p>
            <a:pPr marL="182880" indent="-182880" algn="l">
              <a:lnSpc>
                <a:spcPts val="2100"/>
              </a:lnSpc>
              <a:buSzPct val="100000"/>
              <a:buChar char="•"/>
            </a:pPr>
            <a:r>
              <a:rPr lang="en-US" sz="1500" dirty="0">
                <a:solidFill>
                  <a:srgbClr val="FFF6EC"/>
                </a:solidFill>
                <a:latin typeface="Be Vietnam Pro" pitchFamily="34" charset="0"/>
                <a:ea typeface="Be Vietnam Pro" pitchFamily="34" charset="-122"/>
                <a:cs typeface="Be Vietnam Pro" pitchFamily="34" charset="-120"/>
              </a:rPr>
              <a:t>Quá 10 giây → báo TimeoutException</a:t>
            </a:r>
            <a:endParaRPr lang="en-US" sz="1500" dirty="0"/>
          </a:p>
        </p:txBody>
      </p:sp>
      <p:sp>
        <p:nvSpPr>
          <p:cNvPr id="10" name="Text 8"/>
          <p:cNvSpPr/>
          <p:nvPr/>
        </p:nvSpPr>
        <p:spPr>
          <a:xfrm>
            <a:off x="812800" y="5593082"/>
            <a:ext cx="10883392"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F7DCC5"/>
                </a:solidFill>
                <a:latin typeface="Be Vietnam Pro" pitchFamily="34" charset="0"/>
                <a:ea typeface="Be Vietnam Pro" pitchFamily="34" charset="-122"/>
                <a:cs typeface="Be Vietnam Pro" pitchFamily="34" charset="-120"/>
              </a:rPr>
              <a:t>Tài liệu 5.1 coi time.sleep() là trường hợp cực đoan của việc chờ: đặt điều kiện là một khoảng thời gian cố định.</a:t>
            </a:r>
            <a:endParaRPr lang="en-US" sz="1400" dirty="0"/>
          </a:p>
        </p:txBody>
      </p:sp>
      <p:sp>
        <p:nvSpPr>
          <p:cNvPr id="11" name="Text 9"/>
          <p:cNvSpPr/>
          <p:nvPr/>
        </p:nvSpPr>
        <p:spPr>
          <a:xfrm>
            <a:off x="812800" y="6238239"/>
            <a:ext cx="78486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F7DCC5"/>
                </a:solidFill>
                <a:latin typeface="Be Vietnam Pro" pitchFamily="34" charset="0"/>
                <a:ea typeface="Be Vietnam Pro" pitchFamily="34" charset="-122"/>
                <a:cs typeface="Be Vietnam Pro" pitchFamily="34" charset="-120"/>
              </a:rPr>
              <a:t>Tuần 7 – W1 · Tải nội dung động · Nhóm N09</a:t>
            </a:r>
            <a:endParaRPr lang="en-US" sz="1200" dirty="0"/>
          </a:p>
        </p:txBody>
      </p:sp>
      <p:sp>
        <p:nvSpPr>
          <p:cNvPr id="12" name="Text 10"/>
          <p:cNvSpPr/>
          <p:nvPr/>
        </p:nvSpPr>
        <p:spPr>
          <a:xfrm>
            <a:off x="10058400" y="6238239"/>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F7DCC5"/>
                </a:solidFill>
                <a:latin typeface="Be Vietnam Pro" pitchFamily="34" charset="0"/>
                <a:ea typeface="Be Vietnam Pro" pitchFamily="34" charset="-122"/>
                <a:cs typeface="Be Vietnam Pro"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5560C"/>
                </a:solidFill>
                <a:latin typeface="Be Vietnam Pro" pitchFamily="34" charset="0"/>
                <a:ea typeface="Be Vietnam Pro" pitchFamily="34" charset="-122"/>
                <a:cs typeface="Be Vietnam Pro" pitchFamily="34" charset="-120"/>
              </a:rPr>
              <a:t>5.1 EXPLICIT WAITS</a:t>
            </a:r>
            <a:endParaRPr lang="en-US" sz="1200" dirty="0"/>
          </a:p>
        </p:txBody>
      </p:sp>
      <p:sp>
        <p:nvSpPr>
          <p:cNvPr id="3" name="Text 1"/>
          <p:cNvSpPr/>
          <p:nvPr>
            <p:ph type="title"/>
          </p:nvPr>
        </p:nvSpPr>
        <p:spPr>
          <a:xfrm>
            <a:off x="812800" y="1102361"/>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4212B"/>
                </a:solidFill>
                <a:latin typeface="Be Vietnam Pro" pitchFamily="34" charset="0"/>
                <a:ea typeface="Be Vietnam Pro" pitchFamily="34" charset="-122"/>
                <a:cs typeface="Be Vietnam Pro" pitchFamily="34" charset="-120"/>
              </a:rPr>
              <a:t>Chờ tường minh: WebDriverWait + until</a:t>
            </a:r>
            <a:endParaRPr lang="en-US" sz="3200" dirty="0"/>
          </a:p>
        </p:txBody>
      </p:sp>
      <p:sp>
        <p:nvSpPr>
          <p:cNvPr id="4" name="Text 2"/>
          <p:cNvSpPr/>
          <p:nvPr/>
        </p:nvSpPr>
        <p:spPr>
          <a:xfrm>
            <a:off x="812800" y="1823721"/>
            <a:ext cx="6350000" cy="2235200"/>
          </a:xfrm>
          <a:prstGeom prst="roundRect">
            <a:avLst>
              <a:gd name="adj" fmla="val 4545"/>
            </a:avLst>
          </a:prstGeom>
          <a:solidFill>
            <a:srgbClr val="14212B"/>
          </a:solidFill>
        </p:spPr>
        <p:txBody>
          <a:bodyPr wrap="none" lIns="173442" tIns="173442" rIns="0" bIns="148042" rtlCol="0" anchor="t">
            <a:normAutofit/>
          </a:bodyPr>
          <a:lstStyle/>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from selenium.webdriver.support.wait import WebDriverWait</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from selenium.webdriver.support import expected_conditions as EC</a:t>
            </a:r>
            <a:endParaRPr lang="en-US" sz="1200" dirty="0"/>
          </a:p>
          <a:p>
            <a:pPr marL="0" indent="0" algn="l">
              <a:lnSpc>
                <a:spcPts val="1800"/>
              </a:lnSpc>
              <a:buNone/>
            </a:pP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wait = </a:t>
            </a:r>
            <a:r>
              <a:rPr lang="en-US" sz="1200" dirty="0">
                <a:solidFill>
                  <a:srgbClr val="F2994A"/>
                </a:solidFill>
                <a:latin typeface="JetBrains Mono" panose="02000009000000000000" pitchFamily="49" charset="0"/>
                <a:ea typeface="JetBrains Mono" panose="02000009000000000000" pitchFamily="49" charset="-122"/>
                <a:cs typeface="JetBrains Mono" panose="02000009000000000000" pitchFamily="49" charset="-120"/>
              </a:rPr>
              <a:t>WebDriverWait(driver, 10)</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hello = wait.until(</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8DB8E8"/>
                </a:solidFill>
                <a:latin typeface="JetBrains Mono" panose="02000009000000000000" pitchFamily="49" charset="0"/>
                <a:ea typeface="JetBrains Mono" panose="02000009000000000000" pitchFamily="49" charset="-122"/>
                <a:cs typeface="JetBrains Mono" panose="02000009000000000000" pitchFamily="49" charset="-120"/>
              </a:rPr>
              <a:t>EC.visibility_of_element_located</a:t>
            </a: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        (By.CSS_SELECTOR, "#finish h4")))</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print(hello.text)   </a:t>
            </a:r>
            <a:r>
              <a:rPr lang="en-US" sz="1200" dirty="0">
                <a:solidFill>
                  <a:srgbClr val="9AA8B3"/>
                </a:solidFill>
                <a:latin typeface="JetBrains Mono" panose="02000009000000000000" pitchFamily="49" charset="0"/>
                <a:ea typeface="JetBrains Mono" panose="02000009000000000000" pitchFamily="49" charset="-122"/>
                <a:cs typeface="JetBrains Mono" panose="02000009000000000000" pitchFamily="49" charset="-120"/>
              </a:rPr>
              <a:t># Hello World!</a:t>
            </a:r>
            <a:endParaRPr lang="en-US" sz="1200" dirty="0"/>
          </a:p>
        </p:txBody>
      </p:sp>
      <p:sp>
        <p:nvSpPr>
          <p:cNvPr id="5" name="Text 3"/>
          <p:cNvSpPr/>
          <p:nvPr/>
        </p:nvSpPr>
        <p:spPr>
          <a:xfrm>
            <a:off x="7467600" y="1823721"/>
            <a:ext cx="4028948"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B5560C"/>
                </a:solidFill>
                <a:latin typeface="Be Vietnam Pro" pitchFamily="34" charset="0"/>
                <a:ea typeface="Be Vietnam Pro" pitchFamily="34" charset="-122"/>
                <a:cs typeface="Be Vietnam Pro" pitchFamily="34" charset="-120"/>
              </a:rPr>
              <a:t>WebDriverWait(driver, 10)</a:t>
            </a:r>
            <a:endParaRPr lang="en-US" sz="1500" dirty="0"/>
          </a:p>
        </p:txBody>
      </p:sp>
      <p:sp>
        <p:nvSpPr>
          <p:cNvPr id="6" name="Text 4"/>
          <p:cNvSpPr/>
          <p:nvPr/>
        </p:nvSpPr>
        <p:spPr>
          <a:xfrm>
            <a:off x="7467600" y="2077721"/>
            <a:ext cx="4028948"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560"/>
                </a:solidFill>
                <a:latin typeface="Be Vietnam Pro" pitchFamily="34" charset="0"/>
                <a:ea typeface="Be Vietnam Pro" pitchFamily="34" charset="-122"/>
                <a:cs typeface="Be Vietnam Pro" pitchFamily="34" charset="-120"/>
              </a:rPr>
              <a:t>Chờ tối đa 10 giây</a:t>
            </a:r>
            <a:endParaRPr lang="en-US" sz="1400" dirty="0"/>
          </a:p>
        </p:txBody>
      </p:sp>
      <p:sp>
        <p:nvSpPr>
          <p:cNvPr id="7" name="Text 5"/>
          <p:cNvSpPr/>
          <p:nvPr/>
        </p:nvSpPr>
        <p:spPr>
          <a:xfrm>
            <a:off x="7467600" y="2479039"/>
            <a:ext cx="4028948"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2F6FB5"/>
                </a:solidFill>
                <a:latin typeface="Be Vietnam Pro" pitchFamily="34" charset="0"/>
                <a:ea typeface="Be Vietnam Pro" pitchFamily="34" charset="-122"/>
                <a:cs typeface="Be Vietnam Pro" pitchFamily="34" charset="-120"/>
              </a:rPr>
              <a:t>until(điều kiện)</a:t>
            </a:r>
            <a:endParaRPr lang="en-US" sz="1500" dirty="0"/>
          </a:p>
        </p:txBody>
      </p:sp>
      <p:sp>
        <p:nvSpPr>
          <p:cNvPr id="8" name="Text 6"/>
          <p:cNvSpPr/>
          <p:nvPr/>
        </p:nvSpPr>
        <p:spPr>
          <a:xfrm>
            <a:off x="7467600" y="2733039"/>
            <a:ext cx="4028948"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560"/>
                </a:solidFill>
                <a:latin typeface="Be Vietnam Pro" pitchFamily="34" charset="0"/>
                <a:ea typeface="Be Vietnam Pro" pitchFamily="34" charset="-122"/>
                <a:cs typeface="Be Vietnam Pro" pitchFamily="34" charset="-120"/>
              </a:rPr>
              <a:t>Cứ 500 ms kiểm tra lại một lần</a:t>
            </a:r>
            <a:endParaRPr lang="en-US" sz="1400" dirty="0"/>
          </a:p>
        </p:txBody>
      </p:sp>
      <p:sp>
        <p:nvSpPr>
          <p:cNvPr id="9" name="Text 7"/>
          <p:cNvSpPr/>
          <p:nvPr/>
        </p:nvSpPr>
        <p:spPr>
          <a:xfrm>
            <a:off x="7467600" y="3134361"/>
            <a:ext cx="4028948"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4212B"/>
                </a:solidFill>
                <a:latin typeface="Be Vietnam Pro" pitchFamily="34" charset="0"/>
                <a:ea typeface="Be Vietnam Pro" pitchFamily="34" charset="-122"/>
                <a:cs typeface="Be Vietnam Pro" pitchFamily="34" charset="-120"/>
              </a:rPr>
              <a:t>Điều kiện đúng</a:t>
            </a:r>
            <a:endParaRPr lang="en-US" sz="1500" dirty="0"/>
          </a:p>
        </p:txBody>
      </p:sp>
      <p:sp>
        <p:nvSpPr>
          <p:cNvPr id="10" name="Text 8"/>
          <p:cNvSpPr/>
          <p:nvPr/>
        </p:nvSpPr>
        <p:spPr>
          <a:xfrm>
            <a:off x="7467600" y="3388361"/>
            <a:ext cx="4028948"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560"/>
                </a:solidFill>
                <a:latin typeface="Be Vietnam Pro" pitchFamily="34" charset="0"/>
                <a:ea typeface="Be Vietnam Pro" pitchFamily="34" charset="-122"/>
                <a:cs typeface="Be Vietnam Pro" pitchFamily="34" charset="-120"/>
              </a:rPr>
              <a:t>Trả về phần tử, chạy tiếp ngay</a:t>
            </a:r>
            <a:endParaRPr lang="en-US" sz="1400" dirty="0"/>
          </a:p>
        </p:txBody>
      </p:sp>
      <p:sp>
        <p:nvSpPr>
          <p:cNvPr id="11" name="Text 9"/>
          <p:cNvSpPr/>
          <p:nvPr/>
        </p:nvSpPr>
        <p:spPr>
          <a:xfrm>
            <a:off x="7467600" y="3789682"/>
            <a:ext cx="4028948"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4212B"/>
                </a:solidFill>
                <a:latin typeface="Be Vietnam Pro" pitchFamily="34" charset="0"/>
                <a:ea typeface="Be Vietnam Pro" pitchFamily="34" charset="-122"/>
                <a:cs typeface="Be Vietnam Pro" pitchFamily="34" charset="-120"/>
              </a:rPr>
              <a:t>Hết 10 giây</a:t>
            </a:r>
            <a:endParaRPr lang="en-US" sz="1500" dirty="0"/>
          </a:p>
        </p:txBody>
      </p:sp>
      <p:sp>
        <p:nvSpPr>
          <p:cNvPr id="12" name="Text 10"/>
          <p:cNvSpPr/>
          <p:nvPr/>
        </p:nvSpPr>
        <p:spPr>
          <a:xfrm>
            <a:off x="7467600" y="4043682"/>
            <a:ext cx="4028948"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560"/>
                </a:solidFill>
                <a:latin typeface="Be Vietnam Pro" pitchFamily="34" charset="0"/>
                <a:ea typeface="Be Vietnam Pro" pitchFamily="34" charset="-122"/>
                <a:cs typeface="Be Vietnam Pro" pitchFamily="34" charset="-120"/>
              </a:rPr>
              <a:t>Báo TimeoutException</a:t>
            </a:r>
            <a:endParaRPr lang="en-US" sz="1400" dirty="0"/>
          </a:p>
        </p:txBody>
      </p:sp>
      <p:sp>
        <p:nvSpPr>
          <p:cNvPr id="13" name="Text 11"/>
          <p:cNvSpPr/>
          <p:nvPr/>
        </p:nvSpPr>
        <p:spPr>
          <a:xfrm>
            <a:off x="812800" y="45466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4212B"/>
                </a:solidFill>
                <a:latin typeface="Be Vietnam Pro" pitchFamily="34" charset="0"/>
                <a:ea typeface="Be Vietnam Pro" pitchFamily="34" charset="-122"/>
                <a:cs typeface="Be Vietnam Pro" pitchFamily="34" charset="-120"/>
              </a:rPr>
              <a:t>Dùng trong bài:</a:t>
            </a:r>
            <a:r>
              <a:rPr lang="en-US" sz="1400" dirty="0">
                <a:solidFill>
                  <a:srgbClr val="4A5560"/>
                </a:solidFill>
                <a:latin typeface="Be Vietnam Pro" pitchFamily="34" charset="0"/>
                <a:ea typeface="Be Vietnam Pro" pitchFamily="34" charset="-122"/>
                <a:cs typeface="Be Vietnam Pro" pitchFamily="34" charset="-120"/>
              </a:rPr>
              <a:t> TC01 – TC05 (Phần A của test_w1.py)</a:t>
            </a:r>
            <a:endParaRPr lang="en-US" sz="1400" dirty="0"/>
          </a:p>
        </p:txBody>
      </p:sp>
      <p:sp>
        <p:nvSpPr>
          <p:cNvPr id="14" name="Text 12"/>
          <p:cNvSpPr/>
          <p:nvPr/>
        </p:nvSpPr>
        <p:spPr>
          <a:xfrm>
            <a:off x="812800" y="6238239"/>
            <a:ext cx="78486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Tuần 7 – W1 · Tải nội dung động · Nhóm N09</a:t>
            </a:r>
            <a:endParaRPr lang="en-US" sz="1200" dirty="0"/>
          </a:p>
        </p:txBody>
      </p:sp>
      <p:sp>
        <p:nvSpPr>
          <p:cNvPr id="15" name="Text 13"/>
          <p:cNvSpPr/>
          <p:nvPr/>
        </p:nvSpPr>
        <p:spPr>
          <a:xfrm>
            <a:off x="10058400" y="6238239"/>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5560C"/>
                </a:solidFill>
                <a:latin typeface="Be Vietnam Pro" pitchFamily="34" charset="0"/>
                <a:ea typeface="Be Vietnam Pro" pitchFamily="34" charset="-122"/>
                <a:cs typeface="Be Vietnam Pro" pitchFamily="34" charset="-120"/>
              </a:rPr>
              <a:t>5.1 · EXPECTED CONDITIONS (EC)</a:t>
            </a:r>
            <a:endParaRPr lang="en-US" sz="1200" dirty="0"/>
          </a:p>
        </p:txBody>
      </p:sp>
      <p:sp>
        <p:nvSpPr>
          <p:cNvPr id="3" name="Text 1"/>
          <p:cNvSpPr/>
          <p:nvPr>
            <p:ph type="title"/>
          </p:nvPr>
        </p:nvSpPr>
        <p:spPr>
          <a:xfrm>
            <a:off x="812800" y="1102361"/>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4212B"/>
                </a:solidFill>
                <a:latin typeface="Be Vietnam Pro" pitchFamily="34" charset="0"/>
                <a:ea typeface="Be Vietnam Pro" pitchFamily="34" charset="-122"/>
                <a:cs typeface="Be Vietnam Pro" pitchFamily="34" charset="-120"/>
              </a:rPr>
              <a:t>Ba điều kiện chờ dùng trong bài</a:t>
            </a:r>
            <a:endParaRPr lang="en-US" sz="3200" dirty="0"/>
          </a:p>
        </p:txBody>
      </p:sp>
      <p:sp>
        <p:nvSpPr>
          <p:cNvPr id="4" name="Shape 2"/>
          <p:cNvSpPr/>
          <p:nvPr/>
        </p:nvSpPr>
        <p:spPr>
          <a:xfrm>
            <a:off x="812800" y="1823721"/>
            <a:ext cx="10566400" cy="2052320"/>
          </a:xfrm>
          <a:prstGeom prst="roundRect">
            <a:avLst>
              <a:gd name="adj" fmla="val 4950"/>
            </a:avLst>
          </a:prstGeom>
          <a:solidFill>
            <a:srgbClr val="FFFFFF"/>
          </a:solidFill>
        </p:spPr>
      </p:sp>
      <p:sp>
        <p:nvSpPr>
          <p:cNvPr id="5" name="Shape 3"/>
          <p:cNvSpPr/>
          <p:nvPr/>
        </p:nvSpPr>
        <p:spPr>
          <a:xfrm>
            <a:off x="812800" y="1823721"/>
            <a:ext cx="10566400" cy="2052320"/>
          </a:xfrm>
          <a:custGeom>
            <a:avLst/>
            <a:gdLst/>
            <a:ahLst/>
            <a:cxnLst/>
            <a:rect l="l" t="t" r="r" b="b"/>
            <a:pathLst>
              <a:path w="10566400" h="2052320">
                <a:moveTo>
                  <a:pt x="10464800" y="0"/>
                </a:moveTo>
                <a:lnTo>
                  <a:pt x="10464800" y="0"/>
                </a:lnTo>
                <a:arcTo wR="101600" hR="101600" stAng="16200000" swAng="5400000"/>
                <a:lnTo>
                  <a:pt x="10566400" y="1950720"/>
                </a:lnTo>
                <a:arcTo wR="101600" hR="101600" stAng="0" swAng="5400000"/>
                <a:lnTo>
                  <a:pt x="101600" y="2052320"/>
                </a:lnTo>
                <a:arcTo wR="101600" hR="101600" stAng="5400000" swAng="5400000"/>
                <a:lnTo>
                  <a:pt x="0" y="1950720"/>
                </a:lnTo>
                <a:arcTo wR="101600" hR="88900" stAng="10800000" swAng="-5400000"/>
                <a:lnTo>
                  <a:pt x="10464800" y="2039620"/>
                </a:lnTo>
                <a:arcTo wR="88900" hR="88900" stAng="5400000" swAng="-5400000"/>
                <a:lnTo>
                  <a:pt x="10553700" y="101600"/>
                </a:lnTo>
                <a:arcTo wR="88900" hR="101600" stAng="0" swAng="-5400000"/>
                <a:close/>
              </a:path>
            </a:pathLst>
          </a:custGeom>
          <a:solidFill>
            <a:srgbClr val="DCD9D0"/>
          </a:solidFill>
        </p:spPr>
      </p:sp>
      <p:sp>
        <p:nvSpPr>
          <p:cNvPr id="6" name="Shape 4"/>
          <p:cNvSpPr/>
          <p:nvPr/>
        </p:nvSpPr>
        <p:spPr>
          <a:xfrm>
            <a:off x="812800" y="1823721"/>
            <a:ext cx="10566400" cy="2052320"/>
          </a:xfrm>
          <a:custGeom>
            <a:avLst/>
            <a:gdLst/>
            <a:ahLst/>
            <a:cxnLst/>
            <a:rect l="l" t="t" r="r" b="b"/>
            <a:pathLst>
              <a:path w="10566400" h="2052320">
                <a:moveTo>
                  <a:pt x="101600" y="2052320"/>
                </a:moveTo>
                <a:lnTo>
                  <a:pt x="101600" y="2052320"/>
                </a:lnTo>
                <a:arcTo wR="101600" hR="101600" stAng="5400000" swAng="5400000"/>
                <a:lnTo>
                  <a:pt x="0" y="101600"/>
                </a:lnTo>
                <a:arcTo wR="101600" hR="101600" stAng="10800000" swAng="5400000"/>
                <a:lnTo>
                  <a:pt x="10464800" y="0"/>
                </a:lnTo>
                <a:arcTo wR="101600" hR="101600" stAng="16200000" swAng="5400000"/>
                <a:lnTo>
                  <a:pt x="10566400" y="101600"/>
                </a:lnTo>
                <a:arcTo wR="101600" hR="91440" stAng="0" swAng="-5400000"/>
                <a:lnTo>
                  <a:pt x="101600" y="10160"/>
                </a:lnTo>
                <a:arcTo wR="91440" hR="91440" stAng="16200000" swAng="-5400000"/>
                <a:lnTo>
                  <a:pt x="10160" y="1950720"/>
                </a:lnTo>
                <a:arcTo wR="91440" hR="101600" stAng="10800000" swAng="-5400000"/>
                <a:close/>
              </a:path>
            </a:pathLst>
          </a:custGeom>
          <a:solidFill>
            <a:srgbClr val="141413">
              <a:alpha val="22000"/>
            </a:srgbClr>
          </a:solidFill>
        </p:spPr>
      </p:sp>
      <p:graphicFrame>
        <p:nvGraphicFramePr>
          <p:cNvPr id="7" name="Table 0"/>
          <p:cNvGraphicFramePr>
            <a:graphicFrameLocks noGrp="1"/>
          </p:cNvGraphicFramePr>
          <p:nvPr/>
        </p:nvGraphicFramePr>
        <p:xfrm>
          <a:off x="822960" y="1833881"/>
          <a:ext cx="10546080" cy="2032000"/>
        </p:xfrm>
        <a:graphic>
          <a:graphicData uri="http://schemas.openxmlformats.org/drawingml/2006/table">
            <a:tbl>
              <a:tblPr/>
              <a:tblGrid>
                <a:gridCol w="4218432"/>
                <a:gridCol w="4007510"/>
                <a:gridCol w="2320138"/>
              </a:tblGrid>
              <a:tr h="383540">
                <a:tc>
                  <a:txBody>
                    <a:bodyPr/>
                    <a:lstStyle/>
                    <a:p>
                      <a:pPr marL="0" indent="0">
                        <a:lnSpc>
                          <a:spcPts val="1960"/>
                        </a:lnSpc>
                        <a:buNone/>
                      </a:pPr>
                      <a:r>
                        <a:rPr lang="en-US" sz="1400" b="1" dirty="0">
                          <a:solidFill>
                            <a:srgbClr val="14212B"/>
                          </a:solidFill>
                          <a:latin typeface="Be Vietnam Pro" pitchFamily="34" charset="0"/>
                          <a:ea typeface="Be Vietnam Pro" pitchFamily="34" charset="-122"/>
                          <a:cs typeface="Be Vietnam Pro" pitchFamily="34" charset="-120"/>
                        </a:rPr>
                        <a:t>Điều kiện</a:t>
                      </a:r>
                      <a:endParaRPr lang="en-US" sz="1400" dirty="0">
                        <a:latin typeface="Be Vietnam Pro" pitchFamily="34" charset="0"/>
                        <a:ea typeface="Be Vietnam Pro" pitchFamily="34" charset="0"/>
                        <a:cs typeface="Be Vietnam Pro" pitchFamily="34" charset="0"/>
                      </a:endParaRPr>
                    </a:p>
                  </a:txBody>
                  <a:tcPr marL="62230" marR="62230" marT="62230" marB="62230" anchor="t">
                    <a:lnL w="0" cap="flat" cmpd="sng" algn="ctr">
                      <a:noFill/>
                    </a:lnL>
                    <a:lnR w="12700" cap="flat" cmpd="sng" algn="ctr">
                      <a:solidFill>
                        <a:srgbClr val="BCBBB5"/>
                      </a:solidFill>
                      <a:prstDash val="solid"/>
                      <a:round/>
                      <a:headEnd type="none" w="med" len="med"/>
                      <a:tailEnd type="none" w="med" len="med"/>
                    </a:lnR>
                    <a:lnT w="0" cap="flat" cmpd="sng" algn="ctr">
                      <a:noFill/>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960"/>
                        </a:lnSpc>
                        <a:buNone/>
                      </a:pPr>
                      <a:r>
                        <a:rPr lang="en-US" sz="1400" b="1" dirty="0">
                          <a:solidFill>
                            <a:srgbClr val="14212B"/>
                          </a:solidFill>
                          <a:latin typeface="Be Vietnam Pro" pitchFamily="34" charset="0"/>
                          <a:ea typeface="Be Vietnam Pro" pitchFamily="34" charset="-122"/>
                          <a:cs typeface="Be Vietnam Pro" pitchFamily="34" charset="-120"/>
                        </a:rPr>
                        <a:t>Đúng khi nào</a:t>
                      </a:r>
                      <a:endParaRPr lang="en-US" sz="1400" dirty="0">
                        <a:latin typeface="Be Vietnam Pro" pitchFamily="34" charset="0"/>
                        <a:ea typeface="Be Vietnam Pro" pitchFamily="34" charset="0"/>
                        <a:cs typeface="Be Vietnam Pro" pitchFamily="34" charset="0"/>
                      </a:endParaRPr>
                    </a:p>
                  </a:txBody>
                  <a:tcPr marL="62230" marR="62230" marT="62230" marB="6223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0" cap="flat" cmpd="sng" algn="ctr">
                      <a:noFill/>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960"/>
                        </a:lnSpc>
                        <a:buNone/>
                      </a:pPr>
                      <a:r>
                        <a:rPr lang="en-US" sz="1400" b="1" dirty="0">
                          <a:solidFill>
                            <a:srgbClr val="14212B"/>
                          </a:solidFill>
                          <a:latin typeface="Be Vietnam Pro" pitchFamily="34" charset="0"/>
                          <a:ea typeface="Be Vietnam Pro" pitchFamily="34" charset="-122"/>
                          <a:cs typeface="Be Vietnam Pro" pitchFamily="34" charset="-120"/>
                        </a:rPr>
                        <a:t>Dùng ở</a:t>
                      </a:r>
                      <a:endParaRPr lang="en-US" sz="1400" dirty="0">
                        <a:latin typeface="Be Vietnam Pro" pitchFamily="34" charset="0"/>
                        <a:ea typeface="Be Vietnam Pro" pitchFamily="34" charset="0"/>
                        <a:cs typeface="Be Vietnam Pro" pitchFamily="34" charset="0"/>
                      </a:endParaRPr>
                    </a:p>
                  </a:txBody>
                  <a:tcPr marL="62230" marR="62230" marT="62230" marB="6223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0" cap="flat" cmpd="sng" algn="ctr">
                      <a:noFill/>
                    </a:lnT>
                    <a:lnB w="12700" cap="flat" cmpd="sng" algn="ctr">
                      <a:solidFill>
                        <a:srgbClr val="BCBBB5"/>
                      </a:solidFill>
                      <a:prstDash val="solid"/>
                      <a:round/>
                      <a:headEnd type="none" w="med" len="med"/>
                      <a:tailEnd type="none" w="med" len="med"/>
                    </a:lnB>
                    <a:solidFill>
                      <a:srgbClr val="ECEAE3"/>
                    </a:solidFill>
                  </a:tcPr>
                </a:tc>
              </a:tr>
              <a:tr h="632460">
                <a:tc>
                  <a:txBody>
                    <a:bodyPr/>
                    <a:lstStyle/>
                    <a:p>
                      <a:pPr marL="0" indent="0">
                        <a:lnSpc>
                          <a:spcPts val="1960"/>
                        </a:lnSpc>
                        <a:buNone/>
                      </a:pPr>
                      <a:r>
                        <a:rPr lang="en-US" sz="1400" dirty="0">
                          <a:solidFill>
                            <a:srgbClr val="2F6FB5"/>
                          </a:solidFill>
                          <a:latin typeface="Be Vietnam Pro" pitchFamily="34" charset="0"/>
                          <a:ea typeface="Be Vietnam Pro" pitchFamily="34" charset="-122"/>
                          <a:cs typeface="Be Vietnam Pro" pitchFamily="34" charset="-120"/>
                        </a:rPr>
                        <a:t>presence_of_element_located</a:t>
                      </a:r>
                      <a:endParaRPr lang="en-US" sz="1400" dirty="0">
                        <a:latin typeface="Be Vietnam Pro" pitchFamily="34" charset="0"/>
                        <a:ea typeface="Be Vietnam Pro" pitchFamily="34" charset="0"/>
                        <a:cs typeface="Be Vietnam Pro" pitchFamily="34"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2B"/>
                          </a:solidFill>
                          <a:latin typeface="Be Vietnam Pro" pitchFamily="34" charset="0"/>
                          <a:ea typeface="Be Vietnam Pro" pitchFamily="34" charset="-122"/>
                          <a:cs typeface="Be Vietnam Pro" pitchFamily="34" charset="-120"/>
                        </a:rPr>
                        <a:t>Phần tử có trong DOM, ẩn hay hiện đều được</a:t>
                      </a:r>
                      <a:endParaRPr lang="en-US" sz="1400" dirty="0">
                        <a:latin typeface="Be Vietnam Pro" pitchFamily="34" charset="0"/>
                        <a:ea typeface="Be Vietnam Pro" pitchFamily="34" charset="0"/>
                        <a:cs typeface="Be Vietnam Pro"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2B"/>
                          </a:solidFill>
                          <a:latin typeface="Be Vietnam Pro" pitchFamily="34" charset="0"/>
                          <a:ea typeface="Be Vietnam Pro" pitchFamily="34" charset="-122"/>
                          <a:cs typeface="Be Vietnam Pro" pitchFamily="34" charset="-120"/>
                        </a:rPr>
                        <a:t>TC02, TC04</a:t>
                      </a:r>
                      <a:endParaRPr lang="en-US" sz="1400" dirty="0">
                        <a:latin typeface="Be Vietnam Pro" pitchFamily="34" charset="0"/>
                        <a:ea typeface="Be Vietnam Pro" pitchFamily="34" charset="0"/>
                        <a:cs typeface="Be Vietnam Pro"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32460">
                <a:tc>
                  <a:txBody>
                    <a:bodyPr/>
                    <a:lstStyle/>
                    <a:p>
                      <a:pPr marL="0" indent="0">
                        <a:lnSpc>
                          <a:spcPts val="1960"/>
                        </a:lnSpc>
                        <a:buNone/>
                      </a:pPr>
                      <a:r>
                        <a:rPr lang="en-US" sz="1400" dirty="0">
                          <a:solidFill>
                            <a:srgbClr val="B5560C"/>
                          </a:solidFill>
                          <a:latin typeface="Be Vietnam Pro" pitchFamily="34" charset="0"/>
                          <a:ea typeface="Be Vietnam Pro" pitchFamily="34" charset="-122"/>
                          <a:cs typeface="Be Vietnam Pro" pitchFamily="34" charset="-120"/>
                        </a:rPr>
                        <a:t>visibility_of_element_located</a:t>
                      </a:r>
                      <a:endParaRPr lang="en-US" sz="1400" dirty="0">
                        <a:latin typeface="Be Vietnam Pro" pitchFamily="34" charset="0"/>
                        <a:ea typeface="Be Vietnam Pro" pitchFamily="34" charset="0"/>
                        <a:cs typeface="Be Vietnam Pro" pitchFamily="34"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2B"/>
                          </a:solidFill>
                          <a:latin typeface="Be Vietnam Pro" pitchFamily="34" charset="0"/>
                          <a:ea typeface="Be Vietnam Pro" pitchFamily="34" charset="-122"/>
                          <a:cs typeface="Be Vietnam Pro" pitchFamily="34" charset="-120"/>
                        </a:rPr>
                        <a:t>Có trong DOM và đang hiển thị</a:t>
                      </a:r>
                      <a:endParaRPr lang="en-US" sz="1400" dirty="0">
                        <a:latin typeface="Be Vietnam Pro" pitchFamily="34" charset="0"/>
                        <a:ea typeface="Be Vietnam Pro" pitchFamily="34" charset="0"/>
                        <a:cs typeface="Be Vietnam Pro"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2B"/>
                          </a:solidFill>
                          <a:latin typeface="Be Vietnam Pro" pitchFamily="34" charset="0"/>
                          <a:ea typeface="Be Vietnam Pro" pitchFamily="34" charset="-122"/>
                          <a:cs typeface="Be Vietnam Pro" pitchFamily="34" charset="-120"/>
                        </a:rPr>
                        <a:t>TC01, TC02, TC03, TC05</a:t>
                      </a:r>
                      <a:endParaRPr lang="en-US" sz="1400" dirty="0">
                        <a:latin typeface="Be Vietnam Pro" pitchFamily="34" charset="0"/>
                        <a:ea typeface="Be Vietnam Pro" pitchFamily="34" charset="0"/>
                        <a:cs typeface="Be Vietnam Pro"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marL="0" indent="0">
                        <a:lnSpc>
                          <a:spcPts val="1960"/>
                        </a:lnSpc>
                        <a:buNone/>
                      </a:pPr>
                      <a:r>
                        <a:rPr lang="en-US" sz="1400" dirty="0">
                          <a:solidFill>
                            <a:srgbClr val="14212B"/>
                          </a:solidFill>
                          <a:latin typeface="Be Vietnam Pro" pitchFamily="34" charset="0"/>
                          <a:ea typeface="Be Vietnam Pro" pitchFamily="34" charset="-122"/>
                          <a:cs typeface="Be Vietnam Pro" pitchFamily="34" charset="-120"/>
                        </a:rPr>
                        <a:t>invisibility_of_element_located</a:t>
                      </a:r>
                      <a:endParaRPr lang="en-US" sz="1400" dirty="0">
                        <a:latin typeface="Be Vietnam Pro" pitchFamily="34" charset="0"/>
                        <a:ea typeface="Be Vietnam Pro" pitchFamily="34" charset="0"/>
                        <a:cs typeface="Be Vietnam Pro" pitchFamily="34"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2B"/>
                          </a:solidFill>
                          <a:latin typeface="Be Vietnam Pro" pitchFamily="34" charset="0"/>
                          <a:ea typeface="Be Vietnam Pro" pitchFamily="34" charset="-122"/>
                          <a:cs typeface="Be Vietnam Pro" pitchFamily="34" charset="-120"/>
                        </a:rPr>
                        <a:t>Bị ẩn hoặc không còn trong DOM</a:t>
                      </a:r>
                      <a:endParaRPr lang="en-US" sz="1400" dirty="0">
                        <a:latin typeface="Be Vietnam Pro" pitchFamily="34" charset="0"/>
                        <a:ea typeface="Be Vietnam Pro" pitchFamily="34" charset="0"/>
                        <a:cs typeface="Be Vietnam Pro"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2B"/>
                          </a:solidFill>
                          <a:latin typeface="Be Vietnam Pro" pitchFamily="34" charset="0"/>
                          <a:ea typeface="Be Vietnam Pro" pitchFamily="34" charset="-122"/>
                          <a:cs typeface="Be Vietnam Pro" pitchFamily="34" charset="-120"/>
                        </a:rPr>
                        <a:t>TC03</a:t>
                      </a:r>
                      <a:endParaRPr lang="en-US" sz="1400" dirty="0">
                        <a:latin typeface="Be Vietnam Pro" pitchFamily="34" charset="0"/>
                        <a:ea typeface="Be Vietnam Pro" pitchFamily="34" charset="0"/>
                        <a:cs typeface="Be Vietnam Pro"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130039"/>
            <a:ext cx="10566400" cy="889000"/>
          </a:xfrm>
          <a:prstGeom prst="roundRect">
            <a:avLst>
              <a:gd name="adj" fmla="val 8571"/>
            </a:avLst>
          </a:prstGeom>
          <a:solidFill>
            <a:srgbClr val="ECEAE3"/>
          </a:solidFill>
        </p:spPr>
        <p:txBody>
          <a:bodyPr wrap="square" lIns="282482" tIns="155482" rIns="0" bIns="130082" rtlCol="0" anchor="t">
            <a:normAutofit/>
          </a:bodyPr>
          <a:lstStyle/>
          <a:p>
            <a:pPr marL="0" indent="0" algn="l">
              <a:lnSpc>
                <a:spcPts val="2100"/>
              </a:lnSpc>
              <a:buNone/>
            </a:pPr>
            <a:r>
              <a:rPr lang="en-US" sz="1500" b="1" dirty="0">
                <a:solidFill>
                  <a:srgbClr val="14212B"/>
                </a:solidFill>
                <a:latin typeface="Be Vietnam Pro" pitchFamily="34" charset="0"/>
                <a:ea typeface="Be Vietnam Pro" pitchFamily="34" charset="-122"/>
                <a:cs typeface="Be Vietnam Pro" pitchFamily="34" charset="-120"/>
              </a:rPr>
              <a:t>Cái bẫy ở Ví dụ 1:</a:t>
            </a:r>
            <a:r>
              <a:rPr lang="en-US" sz="1500" dirty="0">
                <a:solidFill>
                  <a:srgbClr val="14212B"/>
                </a:solidFill>
                <a:latin typeface="Be Vietnam Pro" pitchFamily="34" charset="0"/>
                <a:ea typeface="Be Vietnam Pro" pitchFamily="34" charset="-122"/>
                <a:cs typeface="Be Vietnam Pro" pitchFamily="34" charset="-120"/>
              </a:rPr>
              <a:t> #finish có mặt ngay từ đầu, nên chờ presence sẽ trả về ngay dù chữ chưa hiện. Phải chờ </a:t>
            </a:r>
            <a:r>
              <a:rPr lang="en-US" sz="1500" b="1" dirty="0">
                <a:solidFill>
                  <a:srgbClr val="14212B"/>
                </a:solidFill>
                <a:latin typeface="Be Vietnam Pro" pitchFamily="34" charset="0"/>
                <a:ea typeface="Be Vietnam Pro" pitchFamily="34" charset="-122"/>
                <a:cs typeface="Be Vietnam Pro" pitchFamily="34" charset="-120"/>
              </a:rPr>
              <a:t>visibility</a:t>
            </a:r>
            <a:r>
              <a:rPr lang="en-US" sz="1500" dirty="0">
                <a:solidFill>
                  <a:srgbClr val="14212B"/>
                </a:solidFill>
                <a:latin typeface="Be Vietnam Pro" pitchFamily="34" charset="0"/>
                <a:ea typeface="Be Vietnam Pro" pitchFamily="34" charset="-122"/>
                <a:cs typeface="Be Vietnam Pro" pitchFamily="34" charset="-120"/>
              </a:rPr>
              <a:t>.</a:t>
            </a:r>
            <a:endParaRPr lang="en-US" sz="1500" dirty="0"/>
          </a:p>
        </p:txBody>
      </p:sp>
      <p:sp>
        <p:nvSpPr>
          <p:cNvPr id="9" name="Shape 6"/>
          <p:cNvSpPr/>
          <p:nvPr/>
        </p:nvSpPr>
        <p:spPr>
          <a:xfrm>
            <a:off x="812800" y="4130039"/>
            <a:ext cx="10566400" cy="889000"/>
          </a:xfrm>
          <a:custGeom>
            <a:avLst/>
            <a:gdLst/>
            <a:ahLst/>
            <a:cxnLst/>
            <a:rect l="l" t="t" r="r" b="b"/>
            <a:pathLst>
              <a:path w="10566400" h="889000">
                <a:moveTo>
                  <a:pt x="76200" y="889000"/>
                </a:moveTo>
                <a:lnTo>
                  <a:pt x="76200" y="889000"/>
                </a:lnTo>
                <a:arcTo wR="76200" hR="76200" stAng="5400000" swAng="5400000"/>
                <a:lnTo>
                  <a:pt x="0" y="76200"/>
                </a:lnTo>
                <a:arcTo wR="76200" hR="76200" stAng="10800000" swAng="5400000"/>
                <a:lnTo>
                  <a:pt x="76200" y="0"/>
                </a:lnTo>
                <a:arcTo wR="25400" hR="76200" stAng="16200000" swAng="-5400000"/>
                <a:lnTo>
                  <a:pt x="50800" y="812800"/>
                </a:lnTo>
                <a:arcTo wR="25400" hR="76200" stAng="10800000" swAng="-5400000"/>
                <a:close/>
              </a:path>
            </a:pathLst>
          </a:custGeom>
          <a:solidFill>
            <a:srgbClr val="2F6FB5"/>
          </a:solidFill>
        </p:spPr>
      </p:sp>
      <p:sp>
        <p:nvSpPr>
          <p:cNvPr id="10" name="Text 7"/>
          <p:cNvSpPr/>
          <p:nvPr/>
        </p:nvSpPr>
        <p:spPr>
          <a:xfrm>
            <a:off x="812800" y="6238239"/>
            <a:ext cx="78486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Tuần 7 – W1 · Tải nội dung động · Nhóm N09</a:t>
            </a:r>
            <a:endParaRPr lang="en-US" sz="1200" dirty="0"/>
          </a:p>
        </p:txBody>
      </p:sp>
      <p:sp>
        <p:nvSpPr>
          <p:cNvPr id="11" name="Text 8"/>
          <p:cNvSpPr/>
          <p:nvPr/>
        </p:nvSpPr>
        <p:spPr>
          <a:xfrm>
            <a:off x="10058400" y="6238239"/>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5560C"/>
                </a:solidFill>
                <a:latin typeface="Be Vietnam Pro" pitchFamily="34" charset="0"/>
                <a:ea typeface="Be Vietnam Pro" pitchFamily="34" charset="-122"/>
                <a:cs typeface="Be Vietnam Pro" pitchFamily="34" charset="-120"/>
              </a:rPr>
              <a:t>5.2 IMPLICIT WAITS</a:t>
            </a:r>
            <a:endParaRPr lang="en-US" sz="1200" dirty="0"/>
          </a:p>
        </p:txBody>
      </p:sp>
      <p:sp>
        <p:nvSpPr>
          <p:cNvPr id="3" name="Text 1"/>
          <p:cNvSpPr/>
          <p:nvPr>
            <p:ph type="title"/>
          </p:nvPr>
        </p:nvSpPr>
        <p:spPr>
          <a:xfrm>
            <a:off x="812800" y="1102361"/>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4212B"/>
                </a:solidFill>
                <a:latin typeface="Be Vietnam Pro" pitchFamily="34" charset="0"/>
                <a:ea typeface="Be Vietnam Pro" pitchFamily="34" charset="-122"/>
                <a:cs typeface="Be Vietnam Pro" pitchFamily="34" charset="-120"/>
              </a:rPr>
              <a:t>Chờ ngầm định: implicitly_wait</a:t>
            </a:r>
            <a:endParaRPr lang="en-US" sz="3200" dirty="0"/>
          </a:p>
        </p:txBody>
      </p:sp>
      <p:sp>
        <p:nvSpPr>
          <p:cNvPr id="4" name="Text 2"/>
          <p:cNvSpPr/>
          <p:nvPr/>
        </p:nvSpPr>
        <p:spPr>
          <a:xfrm>
            <a:off x="812800" y="1823721"/>
            <a:ext cx="5207000" cy="1778000"/>
          </a:xfrm>
          <a:prstGeom prst="roundRect">
            <a:avLst>
              <a:gd name="adj" fmla="val 5714"/>
            </a:avLst>
          </a:prstGeom>
          <a:solidFill>
            <a:srgbClr val="14212B"/>
          </a:solidFill>
        </p:spPr>
        <p:txBody>
          <a:bodyPr wrap="none" lIns="173442" tIns="173442" rIns="29424" bIns="148042" rtlCol="0" anchor="t">
            <a:normAutofit/>
          </a:bodyPr>
          <a:lstStyle/>
          <a:p>
            <a:pPr marL="0" indent="0" algn="l">
              <a:lnSpc>
                <a:spcPts val="1800"/>
              </a:lnSpc>
              <a:buNone/>
            </a:pPr>
            <a:r>
              <a:rPr lang="en-US" sz="1200" dirty="0">
                <a:solidFill>
                  <a:srgbClr val="F2994A"/>
                </a:solidFill>
                <a:latin typeface="JetBrains Mono" panose="02000009000000000000" pitchFamily="49" charset="0"/>
                <a:ea typeface="JetBrains Mono" panose="02000009000000000000" pitchFamily="49" charset="-122"/>
                <a:cs typeface="JetBrains Mono" panose="02000009000000000000" pitchFamily="49" charset="-120"/>
              </a:rPr>
              <a:t>driver.implicitly_wait(10)</a:t>
            </a: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  </a:t>
            </a:r>
            <a:r>
              <a:rPr lang="en-US" sz="1200" dirty="0">
                <a:solidFill>
                  <a:srgbClr val="9AA8B3"/>
                </a:solidFill>
                <a:latin typeface="JetBrains Mono" panose="02000009000000000000" pitchFamily="49" charset="0"/>
                <a:ea typeface="JetBrains Mono" panose="02000009000000000000" pitchFamily="49" charset="-122"/>
                <a:cs typeface="JetBrains Mono" panose="02000009000000000000" pitchFamily="49" charset="-120"/>
              </a:rPr>
              <a:t># giây</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driver.get(f"{BASE_URL}/dynamic_loading/2")</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driver.find_element(*START_BUTTON).click()</a:t>
            </a:r>
            <a:endParaRPr lang="en-US" sz="1200" dirty="0"/>
          </a:p>
          <a:p>
            <a:pPr marL="0" indent="0" algn="l">
              <a:lnSpc>
                <a:spcPts val="1800"/>
              </a:lnSpc>
              <a:buNone/>
            </a:pPr>
            <a:endParaRPr lang="en-US" sz="1200" dirty="0"/>
          </a:p>
          <a:p>
            <a:pPr marL="0" indent="0" algn="l">
              <a:lnSpc>
                <a:spcPts val="1800"/>
              </a:lnSpc>
              <a:buNone/>
            </a:pPr>
            <a:r>
              <a:rPr lang="en-US" sz="1200" dirty="0">
                <a:solidFill>
                  <a:srgbClr val="9AA8B3"/>
                </a:solidFill>
                <a:latin typeface="JetBrains Mono" panose="02000009000000000000" pitchFamily="49" charset="0"/>
                <a:ea typeface="JetBrains Mono" panose="02000009000000000000" pitchFamily="49" charset="-122"/>
                <a:cs typeface="JetBrains Mono" panose="02000009000000000000" pitchFamily="49" charset="-120"/>
              </a:rPr>
              <a:t># tự thử lại tối đa 10 giây đến khi có #finish</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finish = driver.find_element(By.ID, "finish")</a:t>
            </a:r>
            <a:endParaRPr lang="en-US" sz="1200" dirty="0"/>
          </a:p>
        </p:txBody>
      </p:sp>
      <p:sp>
        <p:nvSpPr>
          <p:cNvPr id="5" name="Text 3"/>
          <p:cNvSpPr/>
          <p:nvPr/>
        </p:nvSpPr>
        <p:spPr>
          <a:xfrm>
            <a:off x="6324600" y="1823721"/>
            <a:ext cx="5206238"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4212B"/>
                </a:solidFill>
                <a:latin typeface="Be Vietnam Pro" pitchFamily="34" charset="0"/>
                <a:ea typeface="Be Vietnam Pro" pitchFamily="34" charset="-122"/>
                <a:cs typeface="Be Vietnam Pro" pitchFamily="34" charset="-120"/>
              </a:rPr>
              <a:t>Đặt một lần cho cả driver</a:t>
            </a:r>
            <a:endParaRPr lang="en-US" sz="1500" dirty="0"/>
          </a:p>
        </p:txBody>
      </p:sp>
      <p:sp>
        <p:nvSpPr>
          <p:cNvPr id="6" name="Text 4"/>
          <p:cNvSpPr/>
          <p:nvPr/>
        </p:nvSpPr>
        <p:spPr>
          <a:xfrm>
            <a:off x="6324600" y="2077721"/>
            <a:ext cx="5206238"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560"/>
                </a:solidFill>
                <a:latin typeface="Be Vietnam Pro" pitchFamily="34" charset="0"/>
                <a:ea typeface="Be Vietnam Pro" pitchFamily="34" charset="-122"/>
                <a:cs typeface="Be Vietnam Pro" pitchFamily="34" charset="-120"/>
              </a:rPr>
              <a:t>Mọi find_element tự thử lại đến hết giờ</a:t>
            </a:r>
            <a:endParaRPr lang="en-US" sz="1400" dirty="0"/>
          </a:p>
        </p:txBody>
      </p:sp>
      <p:sp>
        <p:nvSpPr>
          <p:cNvPr id="7" name="Text 5"/>
          <p:cNvSpPr/>
          <p:nvPr/>
        </p:nvSpPr>
        <p:spPr>
          <a:xfrm>
            <a:off x="6324600" y="2479039"/>
            <a:ext cx="5206238"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4212B"/>
                </a:solidFill>
                <a:latin typeface="Be Vietnam Pro" pitchFamily="34" charset="0"/>
                <a:ea typeface="Be Vietnam Pro" pitchFamily="34" charset="-122"/>
                <a:cs typeface="Be Vietnam Pro" pitchFamily="34" charset="-120"/>
              </a:rPr>
              <a:t>Mặc định bằng 0</a:t>
            </a:r>
            <a:endParaRPr lang="en-US" sz="1500" dirty="0"/>
          </a:p>
        </p:txBody>
      </p:sp>
      <p:sp>
        <p:nvSpPr>
          <p:cNvPr id="8" name="Text 6"/>
          <p:cNvSpPr/>
          <p:nvPr/>
        </p:nvSpPr>
        <p:spPr>
          <a:xfrm>
            <a:off x="6324600" y="2733039"/>
            <a:ext cx="5206238"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560"/>
                </a:solidFill>
                <a:latin typeface="Be Vietnam Pro" pitchFamily="34" charset="0"/>
                <a:ea typeface="Be Vietnam Pro" pitchFamily="34" charset="-122"/>
                <a:cs typeface="Be Vietnam Pro" pitchFamily="34" charset="-120"/>
              </a:rPr>
              <a:t>Đã đặt thì có hiệu lực suốt đời driver</a:t>
            </a:r>
            <a:endParaRPr lang="en-US" sz="1400" dirty="0"/>
          </a:p>
        </p:txBody>
      </p:sp>
      <p:sp>
        <p:nvSpPr>
          <p:cNvPr id="9" name="Text 7"/>
          <p:cNvSpPr/>
          <p:nvPr/>
        </p:nvSpPr>
        <p:spPr>
          <a:xfrm>
            <a:off x="6324600" y="3134361"/>
            <a:ext cx="5206238"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B5560C"/>
                </a:solidFill>
                <a:latin typeface="Be Vietnam Pro" pitchFamily="34" charset="0"/>
                <a:ea typeface="Be Vietnam Pro" pitchFamily="34" charset="-122"/>
                <a:cs typeface="Be Vietnam Pro" pitchFamily="34" charset="-120"/>
              </a:rPr>
              <a:t>Chỉ chờ phần tử CÓ MẶT</a:t>
            </a:r>
            <a:endParaRPr lang="en-US" sz="1500" dirty="0"/>
          </a:p>
        </p:txBody>
      </p:sp>
      <p:sp>
        <p:nvSpPr>
          <p:cNvPr id="10" name="Text 8"/>
          <p:cNvSpPr/>
          <p:nvPr/>
        </p:nvSpPr>
        <p:spPr>
          <a:xfrm>
            <a:off x="6324600" y="3388361"/>
            <a:ext cx="5206238"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560"/>
                </a:solidFill>
                <a:latin typeface="Be Vietnam Pro" pitchFamily="34" charset="0"/>
                <a:ea typeface="Be Vietnam Pro" pitchFamily="34" charset="-122"/>
                <a:cs typeface="Be Vietnam Pro" pitchFamily="34" charset="-120"/>
              </a:rPr>
              <a:t>Không chờ hiển thị → không đủ cho Ví dụ 1</a:t>
            </a:r>
            <a:endParaRPr lang="en-US" sz="1400" dirty="0"/>
          </a:p>
        </p:txBody>
      </p:sp>
      <p:sp>
        <p:nvSpPr>
          <p:cNvPr id="11" name="Text 9"/>
          <p:cNvSpPr/>
          <p:nvPr/>
        </p:nvSpPr>
        <p:spPr>
          <a:xfrm>
            <a:off x="6324600" y="3789682"/>
            <a:ext cx="5206238"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14212B"/>
                </a:solidFill>
                <a:latin typeface="Be Vietnam Pro" pitchFamily="34" charset="0"/>
                <a:ea typeface="Be Vietnam Pro" pitchFamily="34" charset="-122"/>
                <a:cs typeface="Be Vietnam Pro" pitchFamily="34" charset="-120"/>
              </a:rPr>
              <a:t>Hết giờ</a:t>
            </a:r>
            <a:endParaRPr lang="en-US" sz="1500" dirty="0"/>
          </a:p>
        </p:txBody>
      </p:sp>
      <p:sp>
        <p:nvSpPr>
          <p:cNvPr id="12" name="Text 10"/>
          <p:cNvSpPr/>
          <p:nvPr/>
        </p:nvSpPr>
        <p:spPr>
          <a:xfrm>
            <a:off x="6324600" y="4043682"/>
            <a:ext cx="5206238"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560"/>
                </a:solidFill>
                <a:latin typeface="Be Vietnam Pro" pitchFamily="34" charset="0"/>
                <a:ea typeface="Be Vietnam Pro" pitchFamily="34" charset="-122"/>
                <a:cs typeface="Be Vietnam Pro" pitchFamily="34" charset="-120"/>
              </a:rPr>
              <a:t>Báo NoSuchElementException</a:t>
            </a:r>
            <a:endParaRPr lang="en-US" sz="1400" dirty="0"/>
          </a:p>
        </p:txBody>
      </p:sp>
      <p:sp>
        <p:nvSpPr>
          <p:cNvPr id="13" name="Text 11"/>
          <p:cNvSpPr/>
          <p:nvPr/>
        </p:nvSpPr>
        <p:spPr>
          <a:xfrm>
            <a:off x="812800" y="45466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4212B"/>
                </a:solidFill>
                <a:latin typeface="Be Vietnam Pro" pitchFamily="34" charset="0"/>
                <a:ea typeface="Be Vietnam Pro" pitchFamily="34" charset="-122"/>
                <a:cs typeface="Be Vietnam Pro" pitchFamily="34" charset="-120"/>
              </a:rPr>
              <a:t>Dùng trong bài:</a:t>
            </a:r>
            <a:r>
              <a:rPr lang="en-US" sz="1400" dirty="0">
                <a:solidFill>
                  <a:srgbClr val="4A5560"/>
                </a:solidFill>
                <a:latin typeface="Be Vietnam Pro" pitchFamily="34" charset="0"/>
                <a:ea typeface="Be Vietnam Pro" pitchFamily="34" charset="-122"/>
                <a:cs typeface="Be Vietnam Pro" pitchFamily="34" charset="-120"/>
              </a:rPr>
              <a:t> TC06 – TC08 (Phần B của test_w1.py)</a:t>
            </a:r>
            <a:endParaRPr lang="en-US" sz="1400" dirty="0"/>
          </a:p>
        </p:txBody>
      </p:sp>
      <p:sp>
        <p:nvSpPr>
          <p:cNvPr id="14" name="Text 12"/>
          <p:cNvSpPr/>
          <p:nvPr/>
        </p:nvSpPr>
        <p:spPr>
          <a:xfrm>
            <a:off x="812800" y="6238239"/>
            <a:ext cx="78486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Tuần 7 – W1 · Tải nội dung động · Nhóm N09</a:t>
            </a:r>
            <a:endParaRPr lang="en-US" sz="1200" dirty="0"/>
          </a:p>
        </p:txBody>
      </p:sp>
      <p:sp>
        <p:nvSpPr>
          <p:cNvPr id="15" name="Text 13"/>
          <p:cNvSpPr/>
          <p:nvPr/>
        </p:nvSpPr>
        <p:spPr>
          <a:xfrm>
            <a:off x="10058400" y="6238239"/>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5560C"/>
                </a:solidFill>
                <a:latin typeface="Be Vietnam Pro" pitchFamily="34" charset="0"/>
                <a:ea typeface="Be Vietnam Pro" pitchFamily="34" charset="-122"/>
                <a:cs typeface="Be Vietnam Pro" pitchFamily="34" charset="-120"/>
              </a:rPr>
              <a:t>5.1 SO VỚI 5.2</a:t>
            </a:r>
            <a:endParaRPr lang="en-US" sz="1200" dirty="0"/>
          </a:p>
        </p:txBody>
      </p:sp>
      <p:sp>
        <p:nvSpPr>
          <p:cNvPr id="3" name="Text 1"/>
          <p:cNvSpPr/>
          <p:nvPr>
            <p:ph type="title"/>
          </p:nvPr>
        </p:nvSpPr>
        <p:spPr>
          <a:xfrm>
            <a:off x="812800" y="1102361"/>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4212B"/>
                </a:solidFill>
                <a:latin typeface="Be Vietnam Pro" pitchFamily="34" charset="0"/>
                <a:ea typeface="Be Vietnam Pro" pitchFamily="34" charset="-122"/>
                <a:cs typeface="Be Vietnam Pro" pitchFamily="34" charset="-120"/>
              </a:rPr>
              <a:t>Explicit hay Implicit?</a:t>
            </a:r>
            <a:endParaRPr lang="en-US" sz="3200" dirty="0"/>
          </a:p>
        </p:txBody>
      </p:sp>
      <p:sp>
        <p:nvSpPr>
          <p:cNvPr id="4" name="Shape 2"/>
          <p:cNvSpPr/>
          <p:nvPr/>
        </p:nvSpPr>
        <p:spPr>
          <a:xfrm>
            <a:off x="812800" y="1823721"/>
            <a:ext cx="10566400" cy="2161540"/>
          </a:xfrm>
          <a:prstGeom prst="roundRect">
            <a:avLst>
              <a:gd name="adj" fmla="val 4700"/>
            </a:avLst>
          </a:prstGeom>
          <a:solidFill>
            <a:srgbClr val="FFFFFF"/>
          </a:solidFill>
        </p:spPr>
      </p:sp>
      <p:sp>
        <p:nvSpPr>
          <p:cNvPr id="5" name="Shape 3"/>
          <p:cNvSpPr/>
          <p:nvPr/>
        </p:nvSpPr>
        <p:spPr>
          <a:xfrm>
            <a:off x="812800" y="1823721"/>
            <a:ext cx="10566400" cy="2161540"/>
          </a:xfrm>
          <a:custGeom>
            <a:avLst/>
            <a:gdLst/>
            <a:ahLst/>
            <a:cxnLst/>
            <a:rect l="l" t="t" r="r" b="b"/>
            <a:pathLst>
              <a:path w="10566400" h="2161540">
                <a:moveTo>
                  <a:pt x="10464800" y="0"/>
                </a:moveTo>
                <a:lnTo>
                  <a:pt x="10464800" y="0"/>
                </a:lnTo>
                <a:arcTo wR="101600" hR="101600" stAng="16200000" swAng="5400000"/>
                <a:lnTo>
                  <a:pt x="10566400" y="2059940"/>
                </a:lnTo>
                <a:arcTo wR="101600" hR="101600" stAng="0" swAng="5400000"/>
                <a:lnTo>
                  <a:pt x="101600" y="2161540"/>
                </a:lnTo>
                <a:arcTo wR="101600" hR="101600" stAng="5400000" swAng="5400000"/>
                <a:lnTo>
                  <a:pt x="0" y="2059940"/>
                </a:lnTo>
                <a:arcTo wR="101600" hR="88900" stAng="10800000" swAng="-5400000"/>
                <a:lnTo>
                  <a:pt x="10464800" y="2148840"/>
                </a:lnTo>
                <a:arcTo wR="88900" hR="88900" stAng="5400000" swAng="-5400000"/>
                <a:lnTo>
                  <a:pt x="10553700" y="101600"/>
                </a:lnTo>
                <a:arcTo wR="88900" hR="101600" stAng="0" swAng="-5400000"/>
                <a:close/>
              </a:path>
            </a:pathLst>
          </a:custGeom>
          <a:solidFill>
            <a:srgbClr val="DCD9D0"/>
          </a:solidFill>
        </p:spPr>
      </p:sp>
      <p:sp>
        <p:nvSpPr>
          <p:cNvPr id="6" name="Shape 4"/>
          <p:cNvSpPr/>
          <p:nvPr/>
        </p:nvSpPr>
        <p:spPr>
          <a:xfrm>
            <a:off x="812800" y="1823721"/>
            <a:ext cx="10566400" cy="2161540"/>
          </a:xfrm>
          <a:custGeom>
            <a:avLst/>
            <a:gdLst/>
            <a:ahLst/>
            <a:cxnLst/>
            <a:rect l="l" t="t" r="r" b="b"/>
            <a:pathLst>
              <a:path w="10566400" h="2161540">
                <a:moveTo>
                  <a:pt x="101600" y="2161540"/>
                </a:moveTo>
                <a:lnTo>
                  <a:pt x="101600" y="2161540"/>
                </a:lnTo>
                <a:arcTo wR="101600" hR="101600" stAng="5400000" swAng="5400000"/>
                <a:lnTo>
                  <a:pt x="0" y="101600"/>
                </a:lnTo>
                <a:arcTo wR="101600" hR="101600" stAng="10800000" swAng="5400000"/>
                <a:lnTo>
                  <a:pt x="10464800" y="0"/>
                </a:lnTo>
                <a:arcTo wR="101600" hR="101600" stAng="16200000" swAng="5400000"/>
                <a:lnTo>
                  <a:pt x="10566400" y="101600"/>
                </a:lnTo>
                <a:arcTo wR="101600" hR="91440" stAng="0" swAng="-5400000"/>
                <a:lnTo>
                  <a:pt x="101600" y="10160"/>
                </a:lnTo>
                <a:arcTo wR="91440" hR="91440" stAng="16200000" swAng="-5400000"/>
                <a:lnTo>
                  <a:pt x="10160" y="2059940"/>
                </a:lnTo>
                <a:arcTo wR="91440" hR="101600" stAng="10800000" swAng="-5400000"/>
                <a:close/>
              </a:path>
            </a:pathLst>
          </a:custGeom>
          <a:solidFill>
            <a:srgbClr val="141413">
              <a:alpha val="22000"/>
            </a:srgbClr>
          </a:solidFill>
        </p:spPr>
      </p:sp>
      <p:graphicFrame>
        <p:nvGraphicFramePr>
          <p:cNvPr id="7" name="Table 0"/>
          <p:cNvGraphicFramePr>
            <a:graphicFrameLocks noGrp="1"/>
          </p:cNvGraphicFramePr>
          <p:nvPr/>
        </p:nvGraphicFramePr>
        <p:xfrm>
          <a:off x="822960" y="1833881"/>
          <a:ext cx="10546081" cy="2141220"/>
        </p:xfrm>
        <a:graphic>
          <a:graphicData uri="http://schemas.openxmlformats.org/drawingml/2006/table">
            <a:tbl>
              <a:tblPr/>
              <a:tblGrid>
                <a:gridCol w="2741981"/>
                <a:gridCol w="3902050"/>
                <a:gridCol w="3902050"/>
              </a:tblGrid>
              <a:tr h="356870">
                <a:tc>
                  <a:txBody>
                    <a:bodyPr/>
                    <a:lstStyle/>
                    <a:p>
                      <a:pPr marL="0" indent="0">
                        <a:lnSpc>
                          <a:spcPts val="1820"/>
                        </a:lnSpc>
                        <a:buNone/>
                      </a:pPr>
                      <a:r>
                        <a:rPr lang="en-US" sz="1300" b="1" dirty="0">
                          <a:solidFill>
                            <a:srgbClr val="14212B"/>
                          </a:solidFill>
                          <a:latin typeface="Be Vietnam Pro" pitchFamily="34" charset="0"/>
                          <a:ea typeface="Be Vietnam Pro" pitchFamily="34" charset="-122"/>
                          <a:cs typeface="Be Vietnam Pro" pitchFamily="34" charset="-120"/>
                        </a:rPr>
                        <a:t>Tiêu chí</a:t>
                      </a:r>
                      <a:endParaRPr lang="en-US" sz="1300" dirty="0">
                        <a:latin typeface="Be Vietnam Pro" pitchFamily="34" charset="0"/>
                        <a:ea typeface="Be Vietnam Pro" pitchFamily="34" charset="0"/>
                        <a:cs typeface="Be Vietnam Pro" pitchFamily="34" charset="0"/>
                      </a:endParaRPr>
                    </a:p>
                  </a:txBody>
                  <a:tcPr marL="57785" marR="57785" marT="57785" marB="57785" anchor="t">
                    <a:lnL w="0" cap="flat" cmpd="sng" algn="ctr">
                      <a:noFill/>
                    </a:lnL>
                    <a:lnR w="12700" cap="flat" cmpd="sng" algn="ctr">
                      <a:solidFill>
                        <a:srgbClr val="BCBBB5"/>
                      </a:solidFill>
                      <a:prstDash val="solid"/>
                      <a:round/>
                      <a:headEnd type="none" w="med" len="med"/>
                      <a:tailEnd type="none" w="med" len="med"/>
                    </a:lnR>
                    <a:lnT w="0" cap="flat" cmpd="sng" algn="ctr">
                      <a:noFill/>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b="1" dirty="0">
                          <a:solidFill>
                            <a:srgbClr val="14212B"/>
                          </a:solidFill>
                          <a:latin typeface="Be Vietnam Pro" pitchFamily="34" charset="0"/>
                          <a:ea typeface="Be Vietnam Pro" pitchFamily="34" charset="-122"/>
                          <a:cs typeface="Be Vietnam Pro" pitchFamily="34" charset="-120"/>
                        </a:rPr>
                        <a:t>Explicit Wait (5.1)</a:t>
                      </a:r>
                      <a:endParaRPr lang="en-US" sz="1300" dirty="0">
                        <a:latin typeface="Be Vietnam Pro" pitchFamily="34" charset="0"/>
                        <a:ea typeface="Be Vietnam Pro" pitchFamily="34" charset="0"/>
                        <a:cs typeface="Be Vietnam Pro" pitchFamily="34" charset="0"/>
                      </a:endParaRPr>
                    </a:p>
                  </a:txBody>
                  <a:tcPr marL="57785" marR="57785" marT="57785" marB="57785"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0" cap="flat" cmpd="sng" algn="ctr">
                      <a:noFill/>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820"/>
                        </a:lnSpc>
                        <a:buNone/>
                      </a:pPr>
                      <a:r>
                        <a:rPr lang="en-US" sz="1300" b="1" dirty="0">
                          <a:solidFill>
                            <a:srgbClr val="14212B"/>
                          </a:solidFill>
                          <a:latin typeface="Be Vietnam Pro" pitchFamily="34" charset="0"/>
                          <a:ea typeface="Be Vietnam Pro" pitchFamily="34" charset="-122"/>
                          <a:cs typeface="Be Vietnam Pro" pitchFamily="34" charset="-120"/>
                        </a:rPr>
                        <a:t>Implicit Wait (5.2)</a:t>
                      </a:r>
                      <a:endParaRPr lang="en-US" sz="1300" dirty="0">
                        <a:latin typeface="Be Vietnam Pro" pitchFamily="34" charset="0"/>
                        <a:ea typeface="Be Vietnam Pro" pitchFamily="34" charset="0"/>
                        <a:cs typeface="Be Vietnam Pro" pitchFamily="34" charset="0"/>
                      </a:endParaRPr>
                    </a:p>
                  </a:txBody>
                  <a:tcPr marL="57785" marR="57785" marT="57785" marB="57785"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0" cap="flat" cmpd="sng" algn="ctr">
                      <a:noFill/>
                    </a:lnT>
                    <a:lnB w="12700" cap="flat" cmpd="sng" algn="ctr">
                      <a:solidFill>
                        <a:srgbClr val="BCBBB5"/>
                      </a:solidFill>
                      <a:prstDash val="solid"/>
                      <a:round/>
                      <a:headEnd type="none" w="med" len="med"/>
                      <a:tailEnd type="none" w="med" len="med"/>
                    </a:lnB>
                    <a:solidFill>
                      <a:srgbClr val="ECEAE3"/>
                    </a:solidFill>
                  </a:tcPr>
                </a:tc>
              </a:tr>
              <a:tr h="356870">
                <a:tc>
                  <a:txBody>
                    <a:bodyPr/>
                    <a:lstStyle/>
                    <a:p>
                      <a:pPr marL="0" indent="0">
                        <a:lnSpc>
                          <a:spcPts val="1820"/>
                        </a:lnSpc>
                        <a:buNone/>
                      </a:pPr>
                      <a:r>
                        <a:rPr lang="en-US" sz="1300" dirty="0">
                          <a:solidFill>
                            <a:srgbClr val="14212B"/>
                          </a:solidFill>
                          <a:latin typeface="Be Vietnam Pro" pitchFamily="34" charset="0"/>
                          <a:ea typeface="Be Vietnam Pro" pitchFamily="34" charset="-122"/>
                          <a:cs typeface="Be Vietnam Pro" pitchFamily="34" charset="-120"/>
                        </a:rPr>
                        <a:t>Cách đặt</a:t>
                      </a:r>
                      <a:endParaRPr lang="en-US" sz="1300" dirty="0">
                        <a:latin typeface="Be Vietnam Pro" pitchFamily="34" charset="0"/>
                        <a:ea typeface="Be Vietnam Pro" pitchFamily="34" charset="0"/>
                        <a:cs typeface="Be Vietnam Pro" pitchFamily="34"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Be Vietnam Pro" pitchFamily="34" charset="0"/>
                          <a:ea typeface="Be Vietnam Pro" pitchFamily="34" charset="-122"/>
                          <a:cs typeface="Be Vietnam Pro" pitchFamily="34" charset="-120"/>
                        </a:rPr>
                        <a:t>WebDriverWait tại chỗ cần chờ</a:t>
                      </a:r>
                      <a:endParaRPr lang="en-US" sz="1300" dirty="0">
                        <a:latin typeface="Be Vietnam Pro" pitchFamily="34" charset="0"/>
                        <a:ea typeface="Be Vietnam Pro" pitchFamily="34" charset="0"/>
                        <a:cs typeface="Be Vietnam Pro"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Be Vietnam Pro" pitchFamily="34" charset="0"/>
                          <a:ea typeface="Be Vietnam Pro" pitchFamily="34" charset="-122"/>
                          <a:cs typeface="Be Vietnam Pro" pitchFamily="34" charset="-120"/>
                        </a:rPr>
                        <a:t>implicitly_wait() một lần cho driver</a:t>
                      </a:r>
                      <a:endParaRPr lang="en-US" sz="1300" dirty="0">
                        <a:latin typeface="Be Vietnam Pro" pitchFamily="34" charset="0"/>
                        <a:ea typeface="Be Vietnam Pro" pitchFamily="34" charset="0"/>
                        <a:cs typeface="Be Vietnam Pro"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marL="0" indent="0">
                        <a:lnSpc>
                          <a:spcPts val="1820"/>
                        </a:lnSpc>
                        <a:buNone/>
                      </a:pPr>
                      <a:r>
                        <a:rPr lang="en-US" sz="1300" dirty="0">
                          <a:solidFill>
                            <a:srgbClr val="14212B"/>
                          </a:solidFill>
                          <a:latin typeface="Be Vietnam Pro" pitchFamily="34" charset="0"/>
                          <a:ea typeface="Be Vietnam Pro" pitchFamily="34" charset="-122"/>
                          <a:cs typeface="Be Vietnam Pro" pitchFamily="34" charset="-120"/>
                        </a:rPr>
                        <a:t>Chờ điều gì</a:t>
                      </a:r>
                      <a:endParaRPr lang="en-US" sz="1300" dirty="0">
                        <a:latin typeface="Be Vietnam Pro" pitchFamily="34" charset="0"/>
                        <a:ea typeface="Be Vietnam Pro" pitchFamily="34" charset="0"/>
                        <a:cs typeface="Be Vietnam Pro" pitchFamily="34"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Be Vietnam Pro" pitchFamily="34" charset="0"/>
                          <a:ea typeface="Be Vietnam Pro" pitchFamily="34" charset="-122"/>
                          <a:cs typeface="Be Vietnam Pro" pitchFamily="34" charset="-120"/>
                        </a:rPr>
                        <a:t>Bất kỳ điều kiện: hiện, ẩn, click được…</a:t>
                      </a:r>
                      <a:endParaRPr lang="en-US" sz="1300" dirty="0">
                        <a:latin typeface="Be Vietnam Pro" pitchFamily="34" charset="0"/>
                        <a:ea typeface="Be Vietnam Pro" pitchFamily="34" charset="0"/>
                        <a:cs typeface="Be Vietnam Pro"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Be Vietnam Pro" pitchFamily="34" charset="0"/>
                          <a:ea typeface="Be Vietnam Pro" pitchFamily="34" charset="-122"/>
                          <a:cs typeface="Be Vietnam Pro" pitchFamily="34" charset="-120"/>
                        </a:rPr>
                        <a:t>Chỉ chờ phần tử có mặt trong DOM</a:t>
                      </a:r>
                      <a:endParaRPr lang="en-US" sz="1300" dirty="0">
                        <a:latin typeface="Be Vietnam Pro" pitchFamily="34" charset="0"/>
                        <a:ea typeface="Be Vietnam Pro" pitchFamily="34" charset="0"/>
                        <a:cs typeface="Be Vietnam Pro"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marL="0" indent="0">
                        <a:lnSpc>
                          <a:spcPts val="1820"/>
                        </a:lnSpc>
                        <a:buNone/>
                      </a:pPr>
                      <a:r>
                        <a:rPr lang="en-US" sz="1300" dirty="0">
                          <a:solidFill>
                            <a:srgbClr val="14212B"/>
                          </a:solidFill>
                          <a:latin typeface="Be Vietnam Pro" pitchFamily="34" charset="0"/>
                          <a:ea typeface="Be Vietnam Pro" pitchFamily="34" charset="-122"/>
                          <a:cs typeface="Be Vietnam Pro" pitchFamily="34" charset="-120"/>
                        </a:rPr>
                        <a:t>Hết giờ</a:t>
                      </a:r>
                      <a:endParaRPr lang="en-US" sz="1300" dirty="0">
                        <a:latin typeface="Be Vietnam Pro" pitchFamily="34" charset="0"/>
                        <a:ea typeface="Be Vietnam Pro" pitchFamily="34" charset="0"/>
                        <a:cs typeface="Be Vietnam Pro" pitchFamily="34"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Be Vietnam Pro" pitchFamily="34" charset="0"/>
                          <a:ea typeface="Be Vietnam Pro" pitchFamily="34" charset="-122"/>
                          <a:cs typeface="Be Vietnam Pro" pitchFamily="34" charset="-120"/>
                        </a:rPr>
                        <a:t>TimeoutException</a:t>
                      </a:r>
                      <a:endParaRPr lang="en-US" sz="1300" dirty="0">
                        <a:latin typeface="Be Vietnam Pro" pitchFamily="34" charset="0"/>
                        <a:ea typeface="Be Vietnam Pro" pitchFamily="34" charset="0"/>
                        <a:cs typeface="Be Vietnam Pro"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Be Vietnam Pro" pitchFamily="34" charset="0"/>
                          <a:ea typeface="Be Vietnam Pro" pitchFamily="34" charset="-122"/>
                          <a:cs typeface="Be Vietnam Pro" pitchFamily="34" charset="-120"/>
                        </a:rPr>
                        <a:t>NoSuchElementException</a:t>
                      </a:r>
                      <a:endParaRPr lang="en-US" sz="1300" dirty="0">
                        <a:latin typeface="Be Vietnam Pro" pitchFamily="34" charset="0"/>
                        <a:ea typeface="Be Vietnam Pro" pitchFamily="34" charset="0"/>
                        <a:cs typeface="Be Vietnam Pro"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marL="0" indent="0">
                        <a:lnSpc>
                          <a:spcPts val="1820"/>
                        </a:lnSpc>
                        <a:buNone/>
                      </a:pPr>
                      <a:r>
                        <a:rPr lang="en-US" sz="1300" dirty="0">
                          <a:solidFill>
                            <a:srgbClr val="14212B"/>
                          </a:solidFill>
                          <a:latin typeface="Be Vietnam Pro" pitchFamily="34" charset="0"/>
                          <a:ea typeface="Be Vietnam Pro" pitchFamily="34" charset="-122"/>
                          <a:cs typeface="Be Vietnam Pro" pitchFamily="34" charset="-120"/>
                        </a:rPr>
                        <a:t>Ví dụ 1 (bị ẩn)</a:t>
                      </a:r>
                      <a:endParaRPr lang="en-US" sz="1300" dirty="0">
                        <a:latin typeface="Be Vietnam Pro" pitchFamily="34" charset="0"/>
                        <a:ea typeface="Be Vietnam Pro" pitchFamily="34" charset="0"/>
                        <a:cs typeface="Be Vietnam Pro" pitchFamily="34"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6A47"/>
                          </a:solidFill>
                          <a:latin typeface="Be Vietnam Pro" pitchFamily="34" charset="0"/>
                          <a:ea typeface="Be Vietnam Pro" pitchFamily="34" charset="-122"/>
                          <a:cs typeface="Be Vietnam Pro" pitchFamily="34" charset="-120"/>
                        </a:rPr>
                        <a:t>Dùng được: chờ visibility</a:t>
                      </a:r>
                      <a:endParaRPr lang="en-US" sz="1300" dirty="0">
                        <a:latin typeface="Be Vietnam Pro" pitchFamily="34" charset="0"/>
                        <a:ea typeface="Be Vietnam Pro" pitchFamily="34" charset="0"/>
                        <a:cs typeface="Be Vietnam Pro"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B5560C"/>
                          </a:solidFill>
                          <a:latin typeface="Be Vietnam Pro" pitchFamily="34" charset="0"/>
                          <a:ea typeface="Be Vietnam Pro" pitchFamily="34" charset="-122"/>
                          <a:cs typeface="Be Vietnam Pro" pitchFamily="34" charset="-120"/>
                        </a:rPr>
                        <a:t>Không đủ: trả về ngay phần tử ẩn</a:t>
                      </a:r>
                      <a:endParaRPr lang="en-US" sz="1300" dirty="0">
                        <a:latin typeface="Be Vietnam Pro" pitchFamily="34" charset="0"/>
                        <a:ea typeface="Be Vietnam Pro" pitchFamily="34" charset="0"/>
                        <a:cs typeface="Be Vietnam Pro"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marL="0" indent="0">
                        <a:lnSpc>
                          <a:spcPts val="1820"/>
                        </a:lnSpc>
                        <a:buNone/>
                      </a:pPr>
                      <a:r>
                        <a:rPr lang="en-US" sz="1300" dirty="0">
                          <a:solidFill>
                            <a:srgbClr val="14212B"/>
                          </a:solidFill>
                          <a:latin typeface="Be Vietnam Pro" pitchFamily="34" charset="0"/>
                          <a:ea typeface="Be Vietnam Pro" pitchFamily="34" charset="-122"/>
                          <a:cs typeface="Be Vietnam Pro" pitchFamily="34" charset="-120"/>
                        </a:rPr>
                        <a:t>Ví dụ 2 (thêm sau)</a:t>
                      </a:r>
                      <a:endParaRPr lang="en-US" sz="1300" dirty="0">
                        <a:latin typeface="Be Vietnam Pro" pitchFamily="34" charset="0"/>
                        <a:ea typeface="Be Vietnam Pro" pitchFamily="34" charset="0"/>
                        <a:cs typeface="Be Vietnam Pro" pitchFamily="34"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6A47"/>
                          </a:solidFill>
                          <a:latin typeface="Be Vietnam Pro" pitchFamily="34" charset="0"/>
                          <a:ea typeface="Be Vietnam Pro" pitchFamily="34" charset="-122"/>
                          <a:cs typeface="Be Vietnam Pro" pitchFamily="34" charset="-120"/>
                        </a:rPr>
                        <a:t>Dùng được</a:t>
                      </a:r>
                      <a:endParaRPr lang="en-US" sz="1300" dirty="0">
                        <a:latin typeface="Be Vietnam Pro" pitchFamily="34" charset="0"/>
                        <a:ea typeface="Be Vietnam Pro" pitchFamily="34" charset="0"/>
                        <a:cs typeface="Be Vietnam Pro"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E6A47"/>
                          </a:solidFill>
                          <a:latin typeface="Be Vietnam Pro" pitchFamily="34" charset="0"/>
                          <a:ea typeface="Be Vietnam Pro" pitchFamily="34" charset="-122"/>
                          <a:cs typeface="Be Vietnam Pro" pitchFamily="34" charset="-120"/>
                        </a:rPr>
                        <a:t>Dùng được</a:t>
                      </a:r>
                      <a:endParaRPr lang="en-US" sz="1300" dirty="0">
                        <a:latin typeface="Be Vietnam Pro" pitchFamily="34" charset="0"/>
                        <a:ea typeface="Be Vietnam Pro" pitchFamily="34" charset="0"/>
                        <a:cs typeface="Be Vietnam Pro"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239264"/>
            <a:ext cx="10566400" cy="553720"/>
          </a:xfrm>
          <a:prstGeom prst="roundRect">
            <a:avLst>
              <a:gd name="adj" fmla="val 13761"/>
            </a:avLst>
          </a:prstGeom>
          <a:solidFill>
            <a:srgbClr val="ECEAE3"/>
          </a:solidFill>
        </p:spPr>
        <p:txBody>
          <a:bodyPr wrap="square" lIns="282482" tIns="130082" rIns="0" bIns="104682" rtlCol="0" anchor="t">
            <a:normAutofit/>
          </a:bodyPr>
          <a:lstStyle/>
          <a:p>
            <a:pPr marL="0" indent="0" algn="l">
              <a:lnSpc>
                <a:spcPts val="1960"/>
              </a:lnSpc>
              <a:buNone/>
            </a:pPr>
            <a:r>
              <a:rPr lang="en-US" sz="1400" b="1" dirty="0">
                <a:solidFill>
                  <a:srgbClr val="14212B"/>
                </a:solidFill>
                <a:latin typeface="Be Vietnam Pro" pitchFamily="34" charset="0"/>
                <a:ea typeface="Be Vietnam Pro" pitchFamily="34" charset="-122"/>
                <a:cs typeface="Be Vietnam Pro" pitchFamily="34" charset="-120"/>
              </a:rPr>
              <a:t>Không trộn hai kiểu trên cùng một driver.</a:t>
            </a:r>
            <a:r>
              <a:rPr lang="en-US" sz="1400" dirty="0">
                <a:solidFill>
                  <a:srgbClr val="14212B"/>
                </a:solidFill>
                <a:latin typeface="Be Vietnam Pro" pitchFamily="34" charset="0"/>
                <a:ea typeface="Be Vietnam Pro" pitchFamily="34" charset="-122"/>
                <a:cs typeface="Be Vietnam Pro" pitchFamily="34" charset="-120"/>
              </a:rPr>
              <a:t> Bài làm: mỗi test dùng một Chrome riêng.</a:t>
            </a:r>
            <a:endParaRPr lang="en-US" sz="1400" dirty="0"/>
          </a:p>
        </p:txBody>
      </p:sp>
      <p:sp>
        <p:nvSpPr>
          <p:cNvPr id="9" name="Shape 6"/>
          <p:cNvSpPr/>
          <p:nvPr/>
        </p:nvSpPr>
        <p:spPr>
          <a:xfrm>
            <a:off x="812800" y="4239264"/>
            <a:ext cx="10566400" cy="553720"/>
          </a:xfrm>
          <a:custGeom>
            <a:avLst/>
            <a:gdLst/>
            <a:ahLst/>
            <a:cxnLst/>
            <a:rect l="l" t="t" r="r" b="b"/>
            <a:pathLst>
              <a:path w="10566400" h="553720">
                <a:moveTo>
                  <a:pt x="76200" y="553720"/>
                </a:moveTo>
                <a:lnTo>
                  <a:pt x="76200" y="553720"/>
                </a:lnTo>
                <a:arcTo wR="76200" hR="76200" stAng="5400000" swAng="5400000"/>
                <a:lnTo>
                  <a:pt x="0" y="76200"/>
                </a:lnTo>
                <a:arcTo wR="76200" hR="76200" stAng="10800000" swAng="5400000"/>
                <a:lnTo>
                  <a:pt x="76200" y="0"/>
                </a:lnTo>
                <a:arcTo wR="25400" hR="76200" stAng="16200000" swAng="-5400000"/>
                <a:lnTo>
                  <a:pt x="50800" y="477520"/>
                </a:lnTo>
                <a:arcTo wR="25400" hR="76200" stAng="10800000" swAng="-5400000"/>
                <a:close/>
              </a:path>
            </a:pathLst>
          </a:custGeom>
          <a:solidFill>
            <a:srgbClr val="B5560C"/>
          </a:solidFill>
        </p:spPr>
      </p:sp>
      <p:sp>
        <p:nvSpPr>
          <p:cNvPr id="10" name="Text 7"/>
          <p:cNvSpPr/>
          <p:nvPr/>
        </p:nvSpPr>
        <p:spPr>
          <a:xfrm>
            <a:off x="812800" y="6238242"/>
            <a:ext cx="78486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Tuần 7 – W1 · Tải nội dung động · Nhóm N09</a:t>
            </a:r>
            <a:endParaRPr lang="en-US" sz="1200" dirty="0"/>
          </a:p>
        </p:txBody>
      </p:sp>
      <p:sp>
        <p:nvSpPr>
          <p:cNvPr id="11" name="Text 8"/>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5560C"/>
                </a:solidFill>
                <a:latin typeface="Be Vietnam Pro" pitchFamily="34" charset="0"/>
                <a:ea typeface="Be Vietnam Pro" pitchFamily="34" charset="-122"/>
                <a:cs typeface="Be Vietnam Pro" pitchFamily="34" charset="-120"/>
              </a:rPr>
              <a:t>7.1 EXCEPTIONS</a:t>
            </a:r>
            <a:endParaRPr lang="en-US" sz="1200" dirty="0"/>
          </a:p>
        </p:txBody>
      </p:sp>
      <p:sp>
        <p:nvSpPr>
          <p:cNvPr id="3" name="Text 1"/>
          <p:cNvSpPr/>
          <p:nvPr>
            <p:ph type="title"/>
          </p:nvPr>
        </p:nvSpPr>
        <p:spPr>
          <a:xfrm>
            <a:off x="812800" y="1102364"/>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4212B"/>
                </a:solidFill>
                <a:latin typeface="Be Vietnam Pro" pitchFamily="34" charset="0"/>
                <a:ea typeface="Be Vietnam Pro" pitchFamily="34" charset="-122"/>
                <a:cs typeface="Be Vietnam Pro" pitchFamily="34" charset="-120"/>
              </a:rPr>
              <a:t>Khi chờ thất bại: hai ngoại lệ cần biết</a:t>
            </a:r>
            <a:endParaRPr lang="en-US" sz="3200" dirty="0"/>
          </a:p>
        </p:txBody>
      </p:sp>
      <p:sp>
        <p:nvSpPr>
          <p:cNvPr id="4" name="Shape 2"/>
          <p:cNvSpPr/>
          <p:nvPr/>
        </p:nvSpPr>
        <p:spPr>
          <a:xfrm>
            <a:off x="812800" y="1823721"/>
            <a:ext cx="5181600" cy="1645920"/>
          </a:xfrm>
          <a:prstGeom prst="roundRect">
            <a:avLst>
              <a:gd name="adj" fmla="val 6173"/>
            </a:avLst>
          </a:prstGeom>
          <a:solidFill>
            <a:srgbClr val="FFFFFF"/>
          </a:solidFill>
        </p:spPr>
      </p:sp>
      <p:sp>
        <p:nvSpPr>
          <p:cNvPr id="5" name="Shape 3"/>
          <p:cNvSpPr/>
          <p:nvPr/>
        </p:nvSpPr>
        <p:spPr>
          <a:xfrm>
            <a:off x="812800" y="1823721"/>
            <a:ext cx="5181600" cy="1645920"/>
          </a:xfrm>
          <a:custGeom>
            <a:avLst/>
            <a:gdLst/>
            <a:ahLst/>
            <a:cxnLst/>
            <a:rect l="l" t="t" r="r" b="b"/>
            <a:pathLst>
              <a:path w="5181600" h="1645920">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B5560C"/>
          </a:solidFill>
        </p:spPr>
      </p:sp>
      <p:sp>
        <p:nvSpPr>
          <p:cNvPr id="6" name="Text 4"/>
          <p:cNvSpPr/>
          <p:nvPr/>
        </p:nvSpPr>
        <p:spPr>
          <a:xfrm>
            <a:off x="1041400" y="2077721"/>
            <a:ext cx="4866132"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B5560C"/>
                </a:solidFill>
                <a:latin typeface="JetBrains Mono" panose="02000009000000000000" pitchFamily="49" charset="0"/>
                <a:ea typeface="JetBrains Mono" panose="02000009000000000000" pitchFamily="49" charset="-122"/>
                <a:cs typeface="JetBrains Mono" panose="02000009000000000000" pitchFamily="49" charset="-120"/>
              </a:rPr>
              <a:t>TimeoutException</a:t>
            </a:r>
            <a:endParaRPr lang="en-US" sz="1800" dirty="0"/>
          </a:p>
        </p:txBody>
      </p:sp>
      <p:sp>
        <p:nvSpPr>
          <p:cNvPr id="7" name="Text 5"/>
          <p:cNvSpPr/>
          <p:nvPr/>
        </p:nvSpPr>
        <p:spPr>
          <a:xfrm>
            <a:off x="1041400" y="2453642"/>
            <a:ext cx="4866132"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14212B"/>
                </a:solidFill>
                <a:latin typeface="Be Vietnam Pro" pitchFamily="34" charset="0"/>
                <a:ea typeface="Be Vietnam Pro" pitchFamily="34" charset="-122"/>
                <a:cs typeface="Be Vietnam Pro" pitchFamily="34" charset="-120"/>
              </a:rPr>
              <a:t>Explicit wait hết giờ mà điều kiện vẫn chưa đúng</a:t>
            </a:r>
            <a:endParaRPr lang="en-US" sz="1400" dirty="0"/>
          </a:p>
        </p:txBody>
      </p:sp>
      <p:sp>
        <p:nvSpPr>
          <p:cNvPr id="8" name="Text 6"/>
          <p:cNvSpPr/>
          <p:nvPr/>
        </p:nvSpPr>
        <p:spPr>
          <a:xfrm>
            <a:off x="1133094" y="2804164"/>
            <a:ext cx="4766818" cy="487680"/>
          </a:xfrm>
          <a:prstGeom prst="rect">
            <a:avLst/>
          </a:prstGeom>
          <a:noFill/>
        </p:spPr>
        <p:txBody>
          <a:bodyPr wrap="square" lIns="0" tIns="0" rIns="0" bIns="0" rtlCol="0" anchor="t">
            <a:normAutofit/>
          </a:bodyPr>
          <a:lstStyle/>
          <a:p>
            <a:pPr marL="162560" indent="-162560" algn="l">
              <a:lnSpc>
                <a:spcPts val="1820"/>
              </a:lnSpc>
              <a:buSzPct val="100000"/>
              <a:buChar char="•"/>
            </a:pPr>
            <a:r>
              <a:rPr lang="en-US" sz="1300" dirty="0">
                <a:solidFill>
                  <a:srgbClr val="4A5560"/>
                </a:solidFill>
                <a:latin typeface="Be Vietnam Pro" pitchFamily="34" charset="0"/>
                <a:ea typeface="Be Vietnam Pro" pitchFamily="34" charset="-122"/>
                <a:cs typeface="Be Vietnam Pro" pitchFamily="34" charset="-120"/>
              </a:rPr>
              <a:t>TC04: không bấm Start, chờ 2 giây</a:t>
            </a:r>
            <a:endParaRPr lang="en-US" sz="1300" dirty="0"/>
          </a:p>
          <a:p>
            <a:pPr marL="162560" indent="-162560" algn="l">
              <a:lnSpc>
                <a:spcPts val="1820"/>
              </a:lnSpc>
              <a:buSzPct val="100000"/>
              <a:buChar char="•"/>
            </a:pPr>
            <a:r>
              <a:rPr lang="en-US" sz="1300" dirty="0">
                <a:solidFill>
                  <a:srgbClr val="4A5560"/>
                </a:solidFill>
                <a:latin typeface="Be Vietnam Pro" pitchFamily="34" charset="0"/>
                <a:ea typeface="Be Vietnam Pro" pitchFamily="34" charset="-122"/>
                <a:cs typeface="Be Vietnam Pro" pitchFamily="34" charset="-120"/>
              </a:rPr>
              <a:t>TC05: chờ 2 giây, ngắn hơn 5 giây tải</a:t>
            </a:r>
            <a:endParaRPr lang="en-US" sz="1300" dirty="0"/>
          </a:p>
        </p:txBody>
      </p:sp>
      <p:sp>
        <p:nvSpPr>
          <p:cNvPr id="9" name="Shape 7"/>
          <p:cNvSpPr/>
          <p:nvPr/>
        </p:nvSpPr>
        <p:spPr>
          <a:xfrm>
            <a:off x="6197600" y="1823721"/>
            <a:ext cx="5181600" cy="1645920"/>
          </a:xfrm>
          <a:prstGeom prst="roundRect">
            <a:avLst>
              <a:gd name="adj" fmla="val 6173"/>
            </a:avLst>
          </a:prstGeom>
          <a:solidFill>
            <a:srgbClr val="FFFFFF"/>
          </a:solidFill>
        </p:spPr>
      </p:sp>
      <p:sp>
        <p:nvSpPr>
          <p:cNvPr id="10" name="Shape 8"/>
          <p:cNvSpPr/>
          <p:nvPr/>
        </p:nvSpPr>
        <p:spPr>
          <a:xfrm>
            <a:off x="6197600" y="1823721"/>
            <a:ext cx="5181600" cy="1645920"/>
          </a:xfrm>
          <a:custGeom>
            <a:avLst/>
            <a:gdLst/>
            <a:ahLst/>
            <a:cxnLst/>
            <a:rect l="l" t="t" r="r" b="b"/>
            <a:pathLst>
              <a:path w="5181600" h="1645920">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2F6FB5"/>
          </a:solidFill>
        </p:spPr>
      </p:sp>
      <p:sp>
        <p:nvSpPr>
          <p:cNvPr id="11" name="Text 9"/>
          <p:cNvSpPr/>
          <p:nvPr/>
        </p:nvSpPr>
        <p:spPr>
          <a:xfrm>
            <a:off x="6426200" y="2077721"/>
            <a:ext cx="4866132"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2F6FB5"/>
                </a:solidFill>
                <a:latin typeface="JetBrains Mono" panose="02000009000000000000" pitchFamily="49" charset="0"/>
                <a:ea typeface="JetBrains Mono" panose="02000009000000000000" pitchFamily="49" charset="-122"/>
                <a:cs typeface="JetBrains Mono" panose="02000009000000000000" pitchFamily="49" charset="-120"/>
              </a:rPr>
              <a:t>NoSuchElementException</a:t>
            </a:r>
            <a:endParaRPr lang="en-US" sz="1800" dirty="0"/>
          </a:p>
        </p:txBody>
      </p:sp>
      <p:sp>
        <p:nvSpPr>
          <p:cNvPr id="12" name="Text 10"/>
          <p:cNvSpPr/>
          <p:nvPr/>
        </p:nvSpPr>
        <p:spPr>
          <a:xfrm>
            <a:off x="6426200" y="2453642"/>
            <a:ext cx="4866132"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14212B"/>
                </a:solidFill>
                <a:latin typeface="Be Vietnam Pro" pitchFamily="34" charset="0"/>
                <a:ea typeface="Be Vietnam Pro" pitchFamily="34" charset="-122"/>
                <a:cs typeface="Be Vietnam Pro" pitchFamily="34" charset="-120"/>
              </a:rPr>
              <a:t>find_element hết implicit wait mà vẫn không thấy</a:t>
            </a:r>
            <a:endParaRPr lang="en-US" sz="1400" dirty="0"/>
          </a:p>
        </p:txBody>
      </p:sp>
      <p:sp>
        <p:nvSpPr>
          <p:cNvPr id="13" name="Text 11"/>
          <p:cNvSpPr/>
          <p:nvPr/>
        </p:nvSpPr>
        <p:spPr>
          <a:xfrm>
            <a:off x="6517894" y="2804164"/>
            <a:ext cx="4766818" cy="256540"/>
          </a:xfrm>
          <a:prstGeom prst="rect">
            <a:avLst/>
          </a:prstGeom>
          <a:noFill/>
        </p:spPr>
        <p:txBody>
          <a:bodyPr wrap="square" lIns="0" tIns="0" rIns="0" bIns="0" rtlCol="0" anchor="t">
            <a:normAutofit/>
          </a:bodyPr>
          <a:lstStyle/>
          <a:p>
            <a:pPr marL="162560" indent="-162560" algn="l">
              <a:lnSpc>
                <a:spcPts val="1820"/>
              </a:lnSpc>
              <a:buSzPct val="100000"/>
              <a:buChar char="•"/>
            </a:pPr>
            <a:r>
              <a:rPr lang="en-US" sz="1300" dirty="0">
                <a:solidFill>
                  <a:srgbClr val="4A5560"/>
                </a:solidFill>
                <a:latin typeface="Be Vietnam Pro" pitchFamily="34" charset="0"/>
                <a:ea typeface="Be Vietnam Pro" pitchFamily="34" charset="-122"/>
                <a:cs typeface="Be Vietnam Pro" pitchFamily="34" charset="-120"/>
              </a:rPr>
              <a:t>TC08: implicitly_wait(2), không bấm Start</a:t>
            </a:r>
            <a:endParaRPr lang="en-US" sz="1300" dirty="0"/>
          </a:p>
        </p:txBody>
      </p:sp>
      <p:sp>
        <p:nvSpPr>
          <p:cNvPr id="14" name="Text 12"/>
          <p:cNvSpPr/>
          <p:nvPr/>
        </p:nvSpPr>
        <p:spPr>
          <a:xfrm>
            <a:off x="812800" y="3723642"/>
            <a:ext cx="4953000" cy="1092200"/>
          </a:xfrm>
          <a:prstGeom prst="roundRect">
            <a:avLst>
              <a:gd name="adj" fmla="val 9302"/>
            </a:avLst>
          </a:prstGeom>
          <a:solidFill>
            <a:srgbClr val="14212B"/>
          </a:solidFill>
        </p:spPr>
        <p:txBody>
          <a:bodyPr wrap="none" lIns="173442" tIns="173442" rIns="37044" bIns="148042" rtlCol="0" anchor="t">
            <a:normAutofit/>
          </a:bodyPr>
          <a:lstStyle/>
          <a:p>
            <a:pPr marL="0" indent="0" algn="l">
              <a:lnSpc>
                <a:spcPts val="1800"/>
              </a:lnSpc>
              <a:buNone/>
            </a:pPr>
            <a:r>
              <a:rPr lang="en-US" sz="1200" dirty="0">
                <a:solidFill>
                  <a:srgbClr val="F2994A"/>
                </a:solidFill>
                <a:latin typeface="JetBrains Mono" panose="02000009000000000000" pitchFamily="49" charset="0"/>
                <a:ea typeface="JetBrains Mono" panose="02000009000000000000" pitchFamily="49" charset="-122"/>
                <a:cs typeface="JetBrains Mono" panose="02000009000000000000" pitchFamily="49" charset="-120"/>
              </a:rPr>
              <a:t>with pytest.raises(TimeoutException):</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    WebDriverWait(driver, 2).until(</a:t>
            </a:r>
            <a:endParaRPr lang="en-US" sz="1200" dirty="0"/>
          </a:p>
          <a:p>
            <a:pPr marL="0" indent="0" algn="l">
              <a:lnSpc>
                <a:spcPts val="1800"/>
              </a:lnSpc>
              <a:buNone/>
            </a:pPr>
            <a:r>
              <a:rPr lang="en-US" sz="1200" dirty="0">
                <a:solidFill>
                  <a:srgbClr val="F6F5F1"/>
                </a:solidFill>
                <a:latin typeface="JetBrains Mono" panose="02000009000000000000" pitchFamily="49" charset="0"/>
                <a:ea typeface="JetBrains Mono" panose="02000009000000000000" pitchFamily="49" charset="-122"/>
                <a:cs typeface="JetBrains Mono" panose="02000009000000000000" pitchFamily="49" charset="-120"/>
              </a:rPr>
              <a:t>        EC.presence_of_element_located(FINISH))</a:t>
            </a:r>
            <a:endParaRPr lang="en-US" sz="1200" dirty="0"/>
          </a:p>
        </p:txBody>
      </p:sp>
      <p:sp>
        <p:nvSpPr>
          <p:cNvPr id="15" name="Text 13"/>
          <p:cNvSpPr/>
          <p:nvPr/>
        </p:nvSpPr>
        <p:spPr>
          <a:xfrm>
            <a:off x="6070600" y="3985264"/>
            <a:ext cx="5467858" cy="26924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4212B"/>
                </a:solidFill>
                <a:latin typeface="Be Vietnam Pro" pitchFamily="34" charset="0"/>
                <a:ea typeface="Be Vietnam Pro" pitchFamily="34" charset="-122"/>
                <a:cs typeface="Be Vietnam Pro" pitchFamily="34" charset="-120"/>
              </a:rPr>
              <a:t>pytest.raises: lỗi là kết quả mong đợi</a:t>
            </a:r>
            <a:endParaRPr lang="en-US" sz="1600" dirty="0"/>
          </a:p>
        </p:txBody>
      </p:sp>
      <p:sp>
        <p:nvSpPr>
          <p:cNvPr id="16" name="Text 14"/>
          <p:cNvSpPr/>
          <p:nvPr/>
        </p:nvSpPr>
        <p:spPr>
          <a:xfrm>
            <a:off x="6070600" y="4305300"/>
            <a:ext cx="5467858"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4A5560"/>
                </a:solidFill>
                <a:latin typeface="Be Vietnam Pro" pitchFamily="34" charset="0"/>
                <a:ea typeface="Be Vietnam Pro" pitchFamily="34" charset="-122"/>
                <a:cs typeface="Be Vietnam Pro" pitchFamily="34" charset="-120"/>
              </a:rPr>
              <a:t>Lỗi đúng loại xảy ra → PASSED. Lỗi không xảy ra → FAILED.</a:t>
            </a:r>
            <a:endParaRPr lang="en-US" sz="1400" dirty="0"/>
          </a:p>
        </p:txBody>
      </p:sp>
      <p:sp>
        <p:nvSpPr>
          <p:cNvPr id="17" name="Text 15"/>
          <p:cNvSpPr/>
          <p:nvPr/>
        </p:nvSpPr>
        <p:spPr>
          <a:xfrm>
            <a:off x="812800" y="6238242"/>
            <a:ext cx="78486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Tuần 7 – W1 · Tải nội dung động · Nhóm N09</a:t>
            </a:r>
            <a:endParaRPr lang="en-US" sz="1200" dirty="0"/>
          </a:p>
        </p:txBody>
      </p:sp>
      <p:sp>
        <p:nvSpPr>
          <p:cNvPr id="18" name="Text 16"/>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5560C"/>
                </a:solidFill>
                <a:latin typeface="Be Vietnam Pro" pitchFamily="34" charset="0"/>
                <a:ea typeface="Be Vietnam Pro" pitchFamily="34" charset="-122"/>
                <a:cs typeface="Be Vietnam Pro" pitchFamily="34" charset="-120"/>
              </a:rPr>
              <a:t>BÀI LÀM · TEST_W1.PY</a:t>
            </a:r>
            <a:endParaRPr lang="en-US" sz="1200" dirty="0"/>
          </a:p>
        </p:txBody>
      </p:sp>
      <p:sp>
        <p:nvSpPr>
          <p:cNvPr id="3" name="Text 1"/>
          <p:cNvSpPr/>
          <p:nvPr>
            <p:ph type="title"/>
          </p:nvPr>
        </p:nvSpPr>
        <p:spPr>
          <a:xfrm>
            <a:off x="812800" y="1102364"/>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4212B"/>
                </a:solidFill>
                <a:latin typeface="Be Vietnam Pro" pitchFamily="34" charset="0"/>
                <a:ea typeface="Be Vietnam Pro" pitchFamily="34" charset="-122"/>
                <a:cs typeface="Be Vietnam Pro" pitchFamily="34" charset="-120"/>
              </a:rPr>
              <a:t>8 test case, chia hai phần</a:t>
            </a:r>
            <a:endParaRPr lang="en-US" sz="3200" dirty="0"/>
          </a:p>
        </p:txBody>
      </p:sp>
      <p:sp>
        <p:nvSpPr>
          <p:cNvPr id="4" name="Shape 2"/>
          <p:cNvSpPr/>
          <p:nvPr/>
        </p:nvSpPr>
        <p:spPr>
          <a:xfrm>
            <a:off x="812800" y="1798321"/>
            <a:ext cx="10566400" cy="2992120"/>
          </a:xfrm>
          <a:prstGeom prst="roundRect">
            <a:avLst>
              <a:gd name="adj" fmla="val 3396"/>
            </a:avLst>
          </a:prstGeom>
          <a:solidFill>
            <a:srgbClr val="FFFFFF"/>
          </a:solidFill>
        </p:spPr>
      </p:sp>
      <p:sp>
        <p:nvSpPr>
          <p:cNvPr id="5" name="Shape 3"/>
          <p:cNvSpPr/>
          <p:nvPr/>
        </p:nvSpPr>
        <p:spPr>
          <a:xfrm>
            <a:off x="812800" y="1798321"/>
            <a:ext cx="10566400" cy="2992120"/>
          </a:xfrm>
          <a:custGeom>
            <a:avLst/>
            <a:gdLst/>
            <a:ahLst/>
            <a:cxnLst/>
            <a:rect l="l" t="t" r="r" b="b"/>
            <a:pathLst>
              <a:path w="10566400" h="2992120">
                <a:moveTo>
                  <a:pt x="10464800" y="0"/>
                </a:moveTo>
                <a:lnTo>
                  <a:pt x="10464800" y="0"/>
                </a:lnTo>
                <a:arcTo wR="101600" hR="101600" stAng="16200000" swAng="5400000"/>
                <a:lnTo>
                  <a:pt x="10566400" y="2890520"/>
                </a:lnTo>
                <a:arcTo wR="101600" hR="101600" stAng="0" swAng="5400000"/>
                <a:lnTo>
                  <a:pt x="101600" y="2992120"/>
                </a:lnTo>
                <a:arcTo wR="101600" hR="101600" stAng="5400000" swAng="5400000"/>
                <a:lnTo>
                  <a:pt x="0" y="2890520"/>
                </a:lnTo>
                <a:arcTo wR="101600" hR="88900" stAng="10800000" swAng="-5400000"/>
                <a:lnTo>
                  <a:pt x="10464800" y="2979420"/>
                </a:lnTo>
                <a:arcTo wR="88900" hR="88900" stAng="5400000" swAng="-5400000"/>
                <a:lnTo>
                  <a:pt x="10553700" y="101600"/>
                </a:lnTo>
                <a:arcTo wR="88900" hR="101600" stAng="0" swAng="-5400000"/>
                <a:close/>
              </a:path>
            </a:pathLst>
          </a:custGeom>
          <a:solidFill>
            <a:srgbClr val="DCD9D0"/>
          </a:solidFill>
        </p:spPr>
      </p:sp>
      <p:sp>
        <p:nvSpPr>
          <p:cNvPr id="6" name="Shape 4"/>
          <p:cNvSpPr/>
          <p:nvPr/>
        </p:nvSpPr>
        <p:spPr>
          <a:xfrm>
            <a:off x="812800" y="1798321"/>
            <a:ext cx="10566400" cy="2992120"/>
          </a:xfrm>
          <a:custGeom>
            <a:avLst/>
            <a:gdLst/>
            <a:ahLst/>
            <a:cxnLst/>
            <a:rect l="l" t="t" r="r" b="b"/>
            <a:pathLst>
              <a:path w="10566400" h="2992120">
                <a:moveTo>
                  <a:pt x="101600" y="2992120"/>
                </a:moveTo>
                <a:lnTo>
                  <a:pt x="101600" y="2992120"/>
                </a:lnTo>
                <a:arcTo wR="101600" hR="101600" stAng="5400000" swAng="5400000"/>
                <a:lnTo>
                  <a:pt x="0" y="101600"/>
                </a:lnTo>
                <a:arcTo wR="101600" hR="101600" stAng="10800000" swAng="5400000"/>
                <a:lnTo>
                  <a:pt x="10464800" y="0"/>
                </a:lnTo>
                <a:arcTo wR="101600" hR="101600" stAng="16200000" swAng="5400000"/>
                <a:lnTo>
                  <a:pt x="10566400" y="101600"/>
                </a:lnTo>
                <a:arcTo wR="101600" hR="91440" stAng="0" swAng="-5400000"/>
                <a:lnTo>
                  <a:pt x="101600" y="10160"/>
                </a:lnTo>
                <a:arcTo wR="91440" hR="91440" stAng="16200000" swAng="-5400000"/>
                <a:lnTo>
                  <a:pt x="10160" y="2890520"/>
                </a:lnTo>
                <a:arcTo wR="91440" hR="101600" stAng="10800000" swAng="-5400000"/>
                <a:close/>
              </a:path>
            </a:pathLst>
          </a:custGeom>
          <a:solidFill>
            <a:srgbClr val="141413">
              <a:alpha val="22000"/>
            </a:srgbClr>
          </a:solidFill>
        </p:spPr>
      </p:sp>
      <p:graphicFrame>
        <p:nvGraphicFramePr>
          <p:cNvPr id="7" name="Table 0"/>
          <p:cNvGraphicFramePr>
            <a:graphicFrameLocks noGrp="1"/>
          </p:cNvGraphicFramePr>
          <p:nvPr/>
        </p:nvGraphicFramePr>
        <p:xfrm>
          <a:off x="822960" y="1808481"/>
          <a:ext cx="10546080" cy="2971800"/>
        </p:xfrm>
        <a:graphic>
          <a:graphicData uri="http://schemas.openxmlformats.org/drawingml/2006/table">
            <a:tbl>
              <a:tblPr/>
              <a:tblGrid>
                <a:gridCol w="949147"/>
                <a:gridCol w="949147"/>
                <a:gridCol w="5694883"/>
                <a:gridCol w="2952902"/>
              </a:tblGrid>
              <a:tr h="330200">
                <a:tc>
                  <a:txBody>
                    <a:bodyPr/>
                    <a:lstStyle/>
                    <a:p>
                      <a:pPr marL="0" indent="0">
                        <a:lnSpc>
                          <a:spcPts val="1680"/>
                        </a:lnSpc>
                        <a:buNone/>
                      </a:pPr>
                      <a:r>
                        <a:rPr lang="en-US" sz="1200" b="1" dirty="0">
                          <a:solidFill>
                            <a:srgbClr val="14212B"/>
                          </a:solidFill>
                          <a:latin typeface="Be Vietnam Pro" pitchFamily="34" charset="0"/>
                          <a:ea typeface="Be Vietnam Pro" pitchFamily="34" charset="-122"/>
                          <a:cs typeface="Be Vietnam Pro" pitchFamily="34" charset="-120"/>
                        </a:rPr>
                        <a:t>Mã</a:t>
                      </a:r>
                      <a:endParaRPr lang="en-US" sz="1200" dirty="0">
                        <a:latin typeface="Be Vietnam Pro" pitchFamily="34" charset="0"/>
                        <a:ea typeface="Be Vietnam Pro" pitchFamily="34" charset="0"/>
                        <a:cs typeface="Be Vietnam Pro" pitchFamily="34" charset="0"/>
                      </a:endParaRPr>
                    </a:p>
                  </a:txBody>
                  <a:tcPr marL="53340" marR="53340" marT="53340" marB="53340" anchor="t">
                    <a:lnL w="0" cap="flat" cmpd="sng" algn="ctr">
                      <a:noFill/>
                    </a:lnL>
                    <a:lnR w="12700" cap="flat" cmpd="sng" algn="ctr">
                      <a:solidFill>
                        <a:srgbClr val="B0AEA6"/>
                      </a:solidFill>
                      <a:prstDash val="solid"/>
                      <a:round/>
                      <a:headEnd type="none" w="med" len="med"/>
                      <a:tailEnd type="none" w="med" len="med"/>
                    </a:lnR>
                    <a:lnT w="0" cap="flat" cmpd="sng" algn="ctr">
                      <a:noFill/>
                    </a:lnT>
                    <a:lnB w="12700" cap="flat" cmpd="sng" algn="ctr">
                      <a:solidFill>
                        <a:srgbClr val="B0AEA6"/>
                      </a:solidFill>
                      <a:prstDash val="solid"/>
                      <a:round/>
                      <a:headEnd type="none" w="med" len="med"/>
                      <a:tailEnd type="none" w="med" len="med"/>
                    </a:lnB>
                    <a:solidFill>
                      <a:srgbClr val="DCD9D0"/>
                    </a:solidFill>
                  </a:tcPr>
                </a:tc>
                <a:tc>
                  <a:txBody>
                    <a:bodyPr/>
                    <a:lstStyle/>
                    <a:p>
                      <a:pPr marL="0" indent="0">
                        <a:lnSpc>
                          <a:spcPts val="1680"/>
                        </a:lnSpc>
                        <a:buNone/>
                      </a:pPr>
                      <a:r>
                        <a:rPr lang="en-US" sz="1200" b="1" dirty="0">
                          <a:solidFill>
                            <a:srgbClr val="14212B"/>
                          </a:solidFill>
                          <a:latin typeface="Be Vietnam Pro" pitchFamily="34" charset="0"/>
                          <a:ea typeface="Be Vietnam Pro" pitchFamily="34" charset="-122"/>
                          <a:cs typeface="Be Vietnam Pro" pitchFamily="34" charset="-120"/>
                        </a:rPr>
                        <a:t>Trang</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B0AEA6"/>
                      </a:solidFill>
                      <a:prstDash val="solid"/>
                      <a:round/>
                      <a:headEnd type="none" w="med" len="med"/>
                      <a:tailEnd type="none" w="med" len="med"/>
                    </a:lnL>
                    <a:lnR w="12700" cap="flat" cmpd="sng" algn="ctr">
                      <a:solidFill>
                        <a:srgbClr val="B0AEA6"/>
                      </a:solidFill>
                      <a:prstDash val="solid"/>
                      <a:round/>
                      <a:headEnd type="none" w="med" len="med"/>
                      <a:tailEnd type="none" w="med" len="med"/>
                    </a:lnR>
                    <a:lnT w="0" cap="flat" cmpd="sng" algn="ctr">
                      <a:noFill/>
                    </a:lnT>
                    <a:lnB w="12700" cap="flat" cmpd="sng" algn="ctr">
                      <a:solidFill>
                        <a:srgbClr val="B0AEA6"/>
                      </a:solidFill>
                      <a:prstDash val="solid"/>
                      <a:round/>
                      <a:headEnd type="none" w="med" len="med"/>
                      <a:tailEnd type="none" w="med" len="med"/>
                    </a:lnB>
                    <a:solidFill>
                      <a:srgbClr val="DCD9D0"/>
                    </a:solidFill>
                  </a:tcPr>
                </a:tc>
                <a:tc>
                  <a:txBody>
                    <a:bodyPr/>
                    <a:lstStyle/>
                    <a:p>
                      <a:pPr marL="0" indent="0">
                        <a:lnSpc>
                          <a:spcPts val="1680"/>
                        </a:lnSpc>
                        <a:buNone/>
                      </a:pPr>
                      <a:r>
                        <a:rPr lang="en-US" sz="1200" b="1" dirty="0">
                          <a:solidFill>
                            <a:srgbClr val="14212B"/>
                          </a:solidFill>
                          <a:latin typeface="Be Vietnam Pro" pitchFamily="34" charset="0"/>
                          <a:ea typeface="Be Vietnam Pro" pitchFamily="34" charset="-122"/>
                          <a:cs typeface="Be Vietnam Pro" pitchFamily="34" charset="-120"/>
                        </a:rPr>
                        <a:t>Kiểm tra gì</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B0AEA6"/>
                      </a:solidFill>
                      <a:prstDash val="solid"/>
                      <a:round/>
                      <a:headEnd type="none" w="med" len="med"/>
                      <a:tailEnd type="none" w="med" len="med"/>
                    </a:lnL>
                    <a:lnR w="12700" cap="flat" cmpd="sng" algn="ctr">
                      <a:solidFill>
                        <a:srgbClr val="B0AEA6"/>
                      </a:solidFill>
                      <a:prstDash val="solid"/>
                      <a:round/>
                      <a:headEnd type="none" w="med" len="med"/>
                      <a:tailEnd type="none" w="med" len="med"/>
                    </a:lnR>
                    <a:lnT w="0" cap="flat" cmpd="sng" algn="ctr">
                      <a:noFill/>
                    </a:lnT>
                    <a:lnB w="12700" cap="flat" cmpd="sng" algn="ctr">
                      <a:solidFill>
                        <a:srgbClr val="B0AEA6"/>
                      </a:solidFill>
                      <a:prstDash val="solid"/>
                      <a:round/>
                      <a:headEnd type="none" w="med" len="med"/>
                      <a:tailEnd type="none" w="med" len="med"/>
                    </a:lnB>
                    <a:solidFill>
                      <a:srgbClr val="DCD9D0"/>
                    </a:solidFill>
                  </a:tcPr>
                </a:tc>
                <a:tc>
                  <a:txBody>
                    <a:bodyPr/>
                    <a:lstStyle/>
                    <a:p>
                      <a:pPr marL="0" indent="0">
                        <a:lnSpc>
                          <a:spcPts val="1680"/>
                        </a:lnSpc>
                        <a:buNone/>
                      </a:pPr>
                      <a:r>
                        <a:rPr lang="en-US" sz="1200" b="1" dirty="0">
                          <a:solidFill>
                            <a:srgbClr val="14212B"/>
                          </a:solidFill>
                          <a:latin typeface="Be Vietnam Pro" pitchFamily="34" charset="0"/>
                          <a:ea typeface="Be Vietnam Pro" pitchFamily="34" charset="-122"/>
                          <a:cs typeface="Be Vietnam Pro" pitchFamily="34" charset="-120"/>
                        </a:rPr>
                        <a:t>Kiến thức</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B0AEA6"/>
                      </a:solidFill>
                      <a:prstDash val="solid"/>
                      <a:round/>
                      <a:headEnd type="none" w="med" len="med"/>
                      <a:tailEnd type="none" w="med" len="med"/>
                    </a:lnL>
                    <a:lnR w="12700" cap="flat" cmpd="sng" algn="ctr">
                      <a:solidFill>
                        <a:srgbClr val="B0AEA6"/>
                      </a:solidFill>
                      <a:prstDash val="solid"/>
                      <a:round/>
                      <a:headEnd type="none" w="med" len="med"/>
                      <a:tailEnd type="none" w="med" len="med"/>
                    </a:lnR>
                    <a:lnT w="0" cap="flat" cmpd="sng" algn="ctr">
                      <a:noFill/>
                    </a:lnT>
                    <a:lnB w="12700" cap="flat" cmpd="sng" algn="ctr">
                      <a:solidFill>
                        <a:srgbClr val="B0AEA6"/>
                      </a:solidFill>
                      <a:prstDash val="solid"/>
                      <a:round/>
                      <a:headEnd type="none" w="med" len="med"/>
                      <a:tailEnd type="none" w="med" len="med"/>
                    </a:lnB>
                    <a:solidFill>
                      <a:srgbClr val="DCD9D0"/>
                    </a:solidFill>
                  </a:tcPr>
                </a:tc>
              </a:tr>
              <a:tr h="330200">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TC01</a:t>
                      </a:r>
                      <a:endParaRPr lang="en-US" sz="1200" dirty="0">
                        <a:latin typeface="Be Vietnam Pro" pitchFamily="34" charset="0"/>
                        <a:ea typeface="Be Vietnam Pro" pitchFamily="34" charset="0"/>
                        <a:cs typeface="Be Vietnam Pro" pitchFamily="34"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0AEA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/1</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AEA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Chờ “Hello World!” hiện ra, đo thời gian chờ thực tế</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AEA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visibility</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AEA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TC02</a:t>
                      </a:r>
                      <a:endParaRPr lang="en-US" sz="1200" dirty="0">
                        <a:latin typeface="Be Vietnam Pro" pitchFamily="34" charset="0"/>
                        <a:ea typeface="Be Vietnam Pro" pitchFamily="34" charset="0"/>
                        <a:cs typeface="Be Vietnam Pro" pitchFamily="34"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/2</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Chưa có #finish → chờ có trong DOM rồi chờ hiển thị</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presence, visibility</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TC03</a:t>
                      </a:r>
                      <a:endParaRPr lang="en-US" sz="1200" dirty="0">
                        <a:latin typeface="Be Vietnam Pro" pitchFamily="34" charset="0"/>
                        <a:ea typeface="Be Vietnam Pro" pitchFamily="34" charset="0"/>
                        <a:cs typeface="Be Vietnam Pro" pitchFamily="34"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/1</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Chờ “Loading…” hiện ra rồi biến mất</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invisibility</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TC04</a:t>
                      </a:r>
                      <a:endParaRPr lang="en-US" sz="1200" dirty="0">
                        <a:latin typeface="Be Vietnam Pro" pitchFamily="34" charset="0"/>
                        <a:ea typeface="Be Vietnam Pro" pitchFamily="34" charset="0"/>
                        <a:cs typeface="Be Vietnam Pro" pitchFamily="34"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/2</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Không bấm Start, chờ 2 giây → hết giờ</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TimeoutException</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TC05</a:t>
                      </a:r>
                      <a:endParaRPr lang="en-US" sz="1200" dirty="0">
                        <a:latin typeface="Be Vietnam Pro" pitchFamily="34" charset="0"/>
                        <a:ea typeface="Be Vietnam Pro" pitchFamily="34" charset="0"/>
                        <a:cs typeface="Be Vietnam Pro" pitchFamily="34"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/1</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Chờ 2 giây → hết giờ; chờ lại 10 giây → thấy kết quả</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TimeoutException</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TC06</a:t>
                      </a:r>
                      <a:endParaRPr lang="en-US" sz="1200" dirty="0">
                        <a:latin typeface="Be Vietnam Pro" pitchFamily="34" charset="0"/>
                        <a:ea typeface="Be Vietnam Pro" pitchFamily="34" charset="0"/>
                        <a:cs typeface="Be Vietnam Pro" pitchFamily="34" charset="0"/>
                      </a:endParaRPr>
                    </a:p>
                  </a:txBody>
                  <a:tcPr marL="53340" marR="53340" marT="53340" marB="53340" anchor="t">
                    <a:lnL w="0" cap="flat" cmpd="sng" algn="ctr">
                      <a:noFill/>
                    </a:lnL>
                    <a:lnR w="12700" cap="flat" cmpd="sng" algn="ctr">
                      <a:solidFill>
                        <a:srgbClr val="BCBB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/2</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find_element tự chờ phần tử được thêm vào</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implicitly_wait</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r>
              <a:tr h="330200">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TC07</a:t>
                      </a:r>
                      <a:endParaRPr lang="en-US" sz="1200" dirty="0">
                        <a:latin typeface="Be Vietnam Pro" pitchFamily="34" charset="0"/>
                        <a:ea typeface="Be Vietnam Pro" pitchFamily="34" charset="0"/>
                        <a:cs typeface="Be Vietnam Pro" pitchFamily="34" charset="0"/>
                      </a:endParaRPr>
                    </a:p>
                  </a:txBody>
                  <a:tcPr marL="53340" marR="53340" marT="53340" marB="53340" anchor="t">
                    <a:lnL w="0" cap="flat" cmpd="sng" algn="ctr">
                      <a:noFill/>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/1</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find_element trả về ngay phần tử đang ẩn, text rỗng</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implicitly_wait</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r>
              <a:tr h="330200">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TC08</a:t>
                      </a:r>
                      <a:endParaRPr lang="en-US" sz="1200" dirty="0">
                        <a:latin typeface="Be Vietnam Pro" pitchFamily="34" charset="0"/>
                        <a:ea typeface="Be Vietnam Pro" pitchFamily="34" charset="0"/>
                        <a:cs typeface="Be Vietnam Pro" pitchFamily="34" charset="0"/>
                      </a:endParaRPr>
                    </a:p>
                  </a:txBody>
                  <a:tcPr marL="53340" marR="53340" marT="53340" marB="53340" anchor="t">
                    <a:lnL w="0" cap="flat" cmpd="sng" algn="ctr">
                      <a:noFill/>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/2</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Không bấm Start → hết implicit wait</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680"/>
                        </a:lnSpc>
                        <a:buNone/>
                      </a:pPr>
                      <a:r>
                        <a:rPr lang="en-US" sz="1200" dirty="0">
                          <a:solidFill>
                            <a:srgbClr val="14212B"/>
                          </a:solidFill>
                          <a:latin typeface="Be Vietnam Pro" pitchFamily="34" charset="0"/>
                          <a:ea typeface="Be Vietnam Pro" pitchFamily="34" charset="-122"/>
                          <a:cs typeface="Be Vietnam Pro" pitchFamily="34" charset="-120"/>
                        </a:rPr>
                        <a:t>NoSuchElementException</a:t>
                      </a:r>
                      <a:endParaRPr lang="en-US" sz="1200" dirty="0">
                        <a:latin typeface="Be Vietnam Pro" pitchFamily="34" charset="0"/>
                        <a:ea typeface="Be Vietnam Pro" pitchFamily="34" charset="0"/>
                        <a:cs typeface="Be Vietnam Pro" pitchFamily="34"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r>
            </a:tbl>
          </a:graphicData>
        </a:graphic>
      </p:graphicFrame>
      <p:sp>
        <p:nvSpPr>
          <p:cNvPr id="8" name="Text 5"/>
          <p:cNvSpPr/>
          <p:nvPr/>
        </p:nvSpPr>
        <p:spPr>
          <a:xfrm>
            <a:off x="812800" y="5019042"/>
            <a:ext cx="10883392" cy="25654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14212B"/>
                </a:solidFill>
                <a:latin typeface="Be Vietnam Pro" pitchFamily="34" charset="0"/>
                <a:ea typeface="Be Vietnam Pro" pitchFamily="34" charset="-122"/>
                <a:cs typeface="Be Vietnam Pro" pitchFamily="34" charset="-120"/>
              </a:rPr>
              <a:t>Phần A – Explicit Wait:</a:t>
            </a:r>
            <a:r>
              <a:rPr lang="en-US" sz="1300" dirty="0">
                <a:solidFill>
                  <a:srgbClr val="4A5560"/>
                </a:solidFill>
                <a:latin typeface="Be Vietnam Pro" pitchFamily="34" charset="0"/>
                <a:ea typeface="Be Vietnam Pro" pitchFamily="34" charset="-122"/>
                <a:cs typeface="Be Vietnam Pro" pitchFamily="34" charset="-120"/>
              </a:rPr>
              <a:t> TC01 – TC05 (nền trắng) · </a:t>
            </a:r>
            <a:r>
              <a:rPr lang="en-US" sz="1300" b="1" dirty="0">
                <a:solidFill>
                  <a:srgbClr val="14212B"/>
                </a:solidFill>
                <a:latin typeface="Be Vietnam Pro" pitchFamily="34" charset="0"/>
                <a:ea typeface="Be Vietnam Pro" pitchFamily="34" charset="-122"/>
                <a:cs typeface="Be Vietnam Pro" pitchFamily="34" charset="-120"/>
              </a:rPr>
              <a:t>Phần B – Implicit Wait:</a:t>
            </a:r>
            <a:r>
              <a:rPr lang="en-US" sz="1300" dirty="0">
                <a:solidFill>
                  <a:srgbClr val="4A5560"/>
                </a:solidFill>
                <a:latin typeface="Be Vietnam Pro" pitchFamily="34" charset="0"/>
                <a:ea typeface="Be Vietnam Pro" pitchFamily="34" charset="-122"/>
                <a:cs typeface="Be Vietnam Pro" pitchFamily="34" charset="-120"/>
              </a:rPr>
              <a:t> TC06 – TC08 (nền xám)</a:t>
            </a:r>
            <a:endParaRPr lang="en-US" sz="1300" dirty="0"/>
          </a:p>
        </p:txBody>
      </p:sp>
      <p:sp>
        <p:nvSpPr>
          <p:cNvPr id="9" name="Text 6"/>
          <p:cNvSpPr/>
          <p:nvPr/>
        </p:nvSpPr>
        <p:spPr>
          <a:xfrm>
            <a:off x="812800" y="6238242"/>
            <a:ext cx="78486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Tuần 7 – W1 · Tải nội dung động · Nhóm N09</a:t>
            </a:r>
            <a:endParaRPr lang="en-US" sz="1200" dirty="0"/>
          </a:p>
        </p:txBody>
      </p:sp>
      <p:sp>
        <p:nvSpPr>
          <p:cNvPr id="10" name="Text 7"/>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5560C"/>
                </a:solidFill>
                <a:latin typeface="Be Vietnam Pro" pitchFamily="34" charset="0"/>
                <a:ea typeface="Be Vietnam Pro" pitchFamily="34" charset="-122"/>
                <a:cs typeface="Be Vietnam Pro" pitchFamily="34" charset="-120"/>
              </a:rPr>
              <a:t>KẾT QUẢ CHẠY THẬT · REPORT.HTML</a:t>
            </a:r>
            <a:endParaRPr lang="en-US" sz="1200" dirty="0"/>
          </a:p>
        </p:txBody>
      </p:sp>
      <p:sp>
        <p:nvSpPr>
          <p:cNvPr id="3" name="Text 1"/>
          <p:cNvSpPr/>
          <p:nvPr>
            <p:ph type="title"/>
          </p:nvPr>
        </p:nvSpPr>
        <p:spPr>
          <a:xfrm>
            <a:off x="812800" y="1102364"/>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4212B"/>
                </a:solidFill>
                <a:latin typeface="Be Vietnam Pro" pitchFamily="34" charset="0"/>
                <a:ea typeface="Be Vietnam Pro" pitchFamily="34" charset="-122"/>
                <a:cs typeface="Be Vietnam Pro" pitchFamily="34" charset="-120"/>
              </a:rPr>
              <a:t>8/8 test PASSED, 0 FAILED</a:t>
            </a:r>
            <a:endParaRPr lang="en-US" sz="3200" dirty="0"/>
          </a:p>
        </p:txBody>
      </p:sp>
      <p:sp>
        <p:nvSpPr>
          <p:cNvPr id="4" name="Shape 2"/>
          <p:cNvSpPr/>
          <p:nvPr/>
        </p:nvSpPr>
        <p:spPr>
          <a:xfrm>
            <a:off x="812800" y="1772921"/>
            <a:ext cx="2527300" cy="828040"/>
          </a:xfrm>
          <a:prstGeom prst="roundRect">
            <a:avLst>
              <a:gd name="adj" fmla="val 12270"/>
            </a:avLst>
          </a:prstGeom>
          <a:solidFill>
            <a:srgbClr val="FFFFFF"/>
          </a:solidFill>
        </p:spPr>
      </p:sp>
      <p:sp>
        <p:nvSpPr>
          <p:cNvPr id="5" name="Text 3"/>
          <p:cNvSpPr/>
          <p:nvPr/>
        </p:nvSpPr>
        <p:spPr>
          <a:xfrm>
            <a:off x="1016000" y="1899921"/>
            <a:ext cx="2184527" cy="360680"/>
          </a:xfrm>
          <a:prstGeom prst="rect">
            <a:avLst/>
          </a:prstGeom>
          <a:noFill/>
        </p:spPr>
        <p:txBody>
          <a:bodyPr wrap="square" lIns="0" tIns="0" rIns="0" bIns="0" rtlCol="0" anchor="t">
            <a:normAutofit/>
          </a:bodyPr>
          <a:lstStyle/>
          <a:p>
            <a:pPr marL="0" indent="0" algn="l">
              <a:lnSpc>
                <a:spcPts val="2640"/>
              </a:lnSpc>
              <a:buNone/>
            </a:pPr>
            <a:r>
              <a:rPr lang="en-US" sz="2400" b="1" dirty="0">
                <a:solidFill>
                  <a:srgbClr val="1E6A47"/>
                </a:solidFill>
                <a:latin typeface="Be Vietnam Pro" pitchFamily="34" charset="0"/>
                <a:ea typeface="Be Vietnam Pro" pitchFamily="34" charset="-122"/>
                <a:cs typeface="Be Vietnam Pro" pitchFamily="34" charset="-120"/>
              </a:rPr>
              <a:t>8</a:t>
            </a:r>
            <a:endParaRPr lang="en-US" sz="2400" dirty="0"/>
          </a:p>
        </p:txBody>
      </p:sp>
      <p:sp>
        <p:nvSpPr>
          <p:cNvPr id="6" name="Text 4"/>
          <p:cNvSpPr/>
          <p:nvPr/>
        </p:nvSpPr>
        <p:spPr>
          <a:xfrm>
            <a:off x="1016000" y="2260600"/>
            <a:ext cx="2184527"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0"/>
                </a:solidFill>
                <a:latin typeface="Be Vietnam Pro" pitchFamily="34" charset="0"/>
                <a:ea typeface="Be Vietnam Pro" pitchFamily="34" charset="-122"/>
                <a:cs typeface="Be Vietnam Pro" pitchFamily="34" charset="-120"/>
              </a:rPr>
              <a:t>test PASSED</a:t>
            </a:r>
            <a:endParaRPr lang="en-US" sz="1200" dirty="0"/>
          </a:p>
        </p:txBody>
      </p:sp>
      <p:sp>
        <p:nvSpPr>
          <p:cNvPr id="7" name="Shape 5"/>
          <p:cNvSpPr/>
          <p:nvPr/>
        </p:nvSpPr>
        <p:spPr>
          <a:xfrm>
            <a:off x="3492500" y="1772921"/>
            <a:ext cx="2527300" cy="828040"/>
          </a:xfrm>
          <a:prstGeom prst="roundRect">
            <a:avLst>
              <a:gd name="adj" fmla="val 12270"/>
            </a:avLst>
          </a:prstGeom>
          <a:solidFill>
            <a:srgbClr val="FFFFFF"/>
          </a:solidFill>
        </p:spPr>
      </p:sp>
      <p:sp>
        <p:nvSpPr>
          <p:cNvPr id="8" name="Text 6"/>
          <p:cNvSpPr/>
          <p:nvPr/>
        </p:nvSpPr>
        <p:spPr>
          <a:xfrm>
            <a:off x="3695700" y="1899921"/>
            <a:ext cx="2184527" cy="360680"/>
          </a:xfrm>
          <a:prstGeom prst="rect">
            <a:avLst/>
          </a:prstGeom>
          <a:noFill/>
        </p:spPr>
        <p:txBody>
          <a:bodyPr wrap="square" lIns="0" tIns="0" rIns="0" bIns="0" rtlCol="0" anchor="t">
            <a:normAutofit/>
          </a:bodyPr>
          <a:lstStyle/>
          <a:p>
            <a:pPr marL="0" indent="0" algn="l">
              <a:lnSpc>
                <a:spcPts val="2640"/>
              </a:lnSpc>
              <a:buNone/>
            </a:pPr>
            <a:r>
              <a:rPr lang="en-US" sz="2400" b="1" dirty="0">
                <a:solidFill>
                  <a:srgbClr val="14212B"/>
                </a:solidFill>
                <a:latin typeface="Be Vietnam Pro" pitchFamily="34" charset="0"/>
                <a:ea typeface="Be Vietnam Pro" pitchFamily="34" charset="-122"/>
                <a:cs typeface="Be Vietnam Pro" pitchFamily="34" charset="-120"/>
              </a:rPr>
              <a:t>0</a:t>
            </a:r>
            <a:endParaRPr lang="en-US" sz="2400" dirty="0"/>
          </a:p>
        </p:txBody>
      </p:sp>
      <p:sp>
        <p:nvSpPr>
          <p:cNvPr id="9" name="Text 7"/>
          <p:cNvSpPr/>
          <p:nvPr/>
        </p:nvSpPr>
        <p:spPr>
          <a:xfrm>
            <a:off x="3695700" y="2260600"/>
            <a:ext cx="2184527"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0"/>
                </a:solidFill>
                <a:latin typeface="Be Vietnam Pro" pitchFamily="34" charset="0"/>
                <a:ea typeface="Be Vietnam Pro" pitchFamily="34" charset="-122"/>
                <a:cs typeface="Be Vietnam Pro" pitchFamily="34" charset="-120"/>
              </a:rPr>
              <a:t>FAILED, 0 ERROR</a:t>
            </a:r>
            <a:endParaRPr lang="en-US" sz="1200" dirty="0"/>
          </a:p>
        </p:txBody>
      </p:sp>
      <p:sp>
        <p:nvSpPr>
          <p:cNvPr id="10" name="Shape 8"/>
          <p:cNvSpPr/>
          <p:nvPr/>
        </p:nvSpPr>
        <p:spPr>
          <a:xfrm>
            <a:off x="6172200" y="1772921"/>
            <a:ext cx="2527300" cy="828040"/>
          </a:xfrm>
          <a:prstGeom prst="roundRect">
            <a:avLst>
              <a:gd name="adj" fmla="val 12270"/>
            </a:avLst>
          </a:prstGeom>
          <a:solidFill>
            <a:srgbClr val="FFFFFF"/>
          </a:solidFill>
        </p:spPr>
      </p:sp>
      <p:sp>
        <p:nvSpPr>
          <p:cNvPr id="11" name="Text 9"/>
          <p:cNvSpPr/>
          <p:nvPr/>
        </p:nvSpPr>
        <p:spPr>
          <a:xfrm>
            <a:off x="6375400" y="1899921"/>
            <a:ext cx="2184527" cy="360680"/>
          </a:xfrm>
          <a:prstGeom prst="rect">
            <a:avLst/>
          </a:prstGeom>
          <a:noFill/>
        </p:spPr>
        <p:txBody>
          <a:bodyPr wrap="square" lIns="0" tIns="0" rIns="0" bIns="0" rtlCol="0" anchor="t">
            <a:normAutofit/>
          </a:bodyPr>
          <a:lstStyle/>
          <a:p>
            <a:pPr marL="0" indent="0" algn="l">
              <a:lnSpc>
                <a:spcPts val="2640"/>
              </a:lnSpc>
              <a:buNone/>
            </a:pPr>
            <a:r>
              <a:rPr lang="en-US" sz="2400" b="1" dirty="0">
                <a:solidFill>
                  <a:srgbClr val="14212B"/>
                </a:solidFill>
                <a:latin typeface="Be Vietnam Pro" pitchFamily="34" charset="0"/>
                <a:ea typeface="Be Vietnam Pro" pitchFamily="34" charset="-122"/>
                <a:cs typeface="Be Vietnam Pro" pitchFamily="34" charset="-120"/>
              </a:rPr>
              <a:t>1:28</a:t>
            </a:r>
            <a:endParaRPr lang="en-US" sz="2400" dirty="0"/>
          </a:p>
        </p:txBody>
      </p:sp>
      <p:sp>
        <p:nvSpPr>
          <p:cNvPr id="12" name="Text 10"/>
          <p:cNvSpPr/>
          <p:nvPr/>
        </p:nvSpPr>
        <p:spPr>
          <a:xfrm>
            <a:off x="6375400" y="2260600"/>
            <a:ext cx="2184527"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0"/>
                </a:solidFill>
                <a:latin typeface="Be Vietnam Pro" pitchFamily="34" charset="0"/>
                <a:ea typeface="Be Vietnam Pro" pitchFamily="34" charset="-122"/>
                <a:cs typeface="Be Vietnam Pro" pitchFamily="34" charset="-120"/>
              </a:rPr>
              <a:t>phút:giây cho cả 8 test</a:t>
            </a:r>
            <a:endParaRPr lang="en-US" sz="1200" dirty="0"/>
          </a:p>
        </p:txBody>
      </p:sp>
      <p:sp>
        <p:nvSpPr>
          <p:cNvPr id="13" name="Shape 11"/>
          <p:cNvSpPr/>
          <p:nvPr/>
        </p:nvSpPr>
        <p:spPr>
          <a:xfrm>
            <a:off x="8851900" y="1772921"/>
            <a:ext cx="2527300" cy="828040"/>
          </a:xfrm>
          <a:prstGeom prst="roundRect">
            <a:avLst>
              <a:gd name="adj" fmla="val 12270"/>
            </a:avLst>
          </a:prstGeom>
          <a:solidFill>
            <a:srgbClr val="FFFFFF"/>
          </a:solidFill>
        </p:spPr>
      </p:sp>
      <p:sp>
        <p:nvSpPr>
          <p:cNvPr id="14" name="Text 12"/>
          <p:cNvSpPr/>
          <p:nvPr/>
        </p:nvSpPr>
        <p:spPr>
          <a:xfrm>
            <a:off x="9055100" y="1899921"/>
            <a:ext cx="2184527" cy="360680"/>
          </a:xfrm>
          <a:prstGeom prst="rect">
            <a:avLst/>
          </a:prstGeom>
          <a:noFill/>
        </p:spPr>
        <p:txBody>
          <a:bodyPr wrap="square" lIns="0" tIns="0" rIns="0" bIns="0" rtlCol="0" anchor="t">
            <a:normAutofit/>
          </a:bodyPr>
          <a:lstStyle/>
          <a:p>
            <a:pPr marL="0" indent="0" algn="l">
              <a:lnSpc>
                <a:spcPts val="2640"/>
              </a:lnSpc>
              <a:buNone/>
            </a:pPr>
            <a:r>
              <a:rPr lang="en-US" sz="2400" b="1" dirty="0">
                <a:solidFill>
                  <a:srgbClr val="14212B"/>
                </a:solidFill>
                <a:latin typeface="Be Vietnam Pro" pitchFamily="34" charset="0"/>
                <a:ea typeface="Be Vietnam Pro" pitchFamily="34" charset="-122"/>
                <a:cs typeface="Be Vietnam Pro" pitchFamily="34" charset="-120"/>
              </a:rPr>
              <a:t>Windows 11</a:t>
            </a:r>
            <a:endParaRPr lang="en-US" sz="2400" dirty="0"/>
          </a:p>
        </p:txBody>
      </p:sp>
      <p:sp>
        <p:nvSpPr>
          <p:cNvPr id="15" name="Text 13"/>
          <p:cNvSpPr/>
          <p:nvPr/>
        </p:nvSpPr>
        <p:spPr>
          <a:xfrm>
            <a:off x="9055100" y="2260600"/>
            <a:ext cx="2184527"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0"/>
                </a:solidFill>
                <a:latin typeface="Be Vietnam Pro" pitchFamily="34" charset="0"/>
                <a:ea typeface="Be Vietnam Pro" pitchFamily="34" charset="-122"/>
                <a:cs typeface="Be Vietnam Pro" pitchFamily="34" charset="-120"/>
              </a:rPr>
              <a:t>Python 3.12.7 · pytest 9.1.1</a:t>
            </a:r>
            <a:endParaRPr lang="en-US" sz="1200" dirty="0"/>
          </a:p>
        </p:txBody>
      </p:sp>
      <p:sp>
        <p:nvSpPr>
          <p:cNvPr id="16" name="Shape 14"/>
          <p:cNvSpPr/>
          <p:nvPr/>
        </p:nvSpPr>
        <p:spPr>
          <a:xfrm>
            <a:off x="812800" y="2804164"/>
            <a:ext cx="10566400" cy="2984500"/>
          </a:xfrm>
          <a:prstGeom prst="roundRect">
            <a:avLst>
              <a:gd name="adj" fmla="val 2553"/>
            </a:avLst>
          </a:prstGeom>
          <a:solidFill>
            <a:srgbClr val="FFFFFF"/>
          </a:solidFill>
        </p:spPr>
      </p:sp>
      <p:pic>
        <p:nvPicPr>
          <p:cNvPr id="17" name="Image 0" descr="Ảnh chụp report.html: 8 tests took 00:01:28, 0 Failed, 8 Passed; bảng 8 test TC01 đến TC08 đều Passed với thời gian 7 đến 16 giây"/>
          <p:cNvPicPr>
            <a:picLocks noChangeAspect="1"/>
          </p:cNvPicPr>
          <p:nvPr/>
        </p:nvPicPr>
        <p:blipFill>
          <a:blip r:embed="rId1"/>
          <a:stretch>
            <a:fillRect/>
          </a:stretch>
        </p:blipFill>
        <p:spPr>
          <a:xfrm>
            <a:off x="910062" y="2804164"/>
            <a:ext cx="10371876" cy="2984500"/>
          </a:xfrm>
          <a:prstGeom prst="rect">
            <a:avLst/>
          </a:prstGeom>
        </p:spPr>
      </p:pic>
      <p:sp>
        <p:nvSpPr>
          <p:cNvPr id="18" name="Text 15"/>
          <p:cNvSpPr/>
          <p:nvPr/>
        </p:nvSpPr>
        <p:spPr>
          <a:xfrm>
            <a:off x="812800" y="6238242"/>
            <a:ext cx="78486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Tuần 7 – W1 · Tải nội dung động · Nhóm N09</a:t>
            </a:r>
            <a:endParaRPr lang="en-US" sz="1200" dirty="0"/>
          </a:p>
        </p:txBody>
      </p:sp>
      <p:sp>
        <p:nvSpPr>
          <p:cNvPr id="19" name="Text 16"/>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5560C"/>
                </a:solidFill>
                <a:latin typeface="Be Vietnam Pro" pitchFamily="34" charset="0"/>
                <a:ea typeface="Be Vietnam Pro" pitchFamily="34" charset="-122"/>
                <a:cs typeface="Be Vietnam Pro" pitchFamily="34" charset="-120"/>
              </a:rPr>
              <a:t>PHÂN TÍCH KẾT QUẢ · ẢNH MINH CHỨNG</a:t>
            </a:r>
            <a:endParaRPr lang="en-US" sz="1200" dirty="0"/>
          </a:p>
        </p:txBody>
      </p:sp>
      <p:sp>
        <p:nvSpPr>
          <p:cNvPr id="3" name="Text 1"/>
          <p:cNvSpPr/>
          <p:nvPr>
            <p:ph type="title"/>
          </p:nvPr>
        </p:nvSpPr>
        <p:spPr>
          <a:xfrm>
            <a:off x="812800" y="1102364"/>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4212B"/>
                </a:solidFill>
                <a:latin typeface="Be Vietnam Pro" pitchFamily="34" charset="0"/>
                <a:ea typeface="Be Vietnam Pro" pitchFamily="34" charset="-122"/>
                <a:cs typeface="Be Vietnam Pro" pitchFamily="34" charset="-120"/>
              </a:rPr>
              <a:t>Có mặt chưa chắc đã hiển thị</a:t>
            </a:r>
            <a:endParaRPr lang="en-US" sz="3200" dirty="0"/>
          </a:p>
        </p:txBody>
      </p:sp>
      <p:sp>
        <p:nvSpPr>
          <p:cNvPr id="4" name="Shape 2"/>
          <p:cNvSpPr/>
          <p:nvPr/>
        </p:nvSpPr>
        <p:spPr>
          <a:xfrm>
            <a:off x="812800" y="1823721"/>
            <a:ext cx="5181600" cy="1778000"/>
          </a:xfrm>
          <a:prstGeom prst="roundRect">
            <a:avLst>
              <a:gd name="adj" fmla="val 4286"/>
            </a:avLst>
          </a:prstGeom>
          <a:solidFill>
            <a:srgbClr val="FFFFFF"/>
          </a:solidFill>
        </p:spPr>
      </p:sp>
      <p:pic>
        <p:nvPicPr>
          <p:cNvPr id="5" name="Image 0" descr="Ảnh TC07: trang Example 1 vẫn đang hiển thị Loading…"/>
          <p:cNvPicPr>
            <a:picLocks noChangeAspect="1"/>
          </p:cNvPicPr>
          <p:nvPr/>
        </p:nvPicPr>
        <p:blipFill>
          <a:blip r:embed="rId1"/>
          <a:stretch>
            <a:fillRect/>
          </a:stretch>
        </p:blipFill>
        <p:spPr>
          <a:xfrm>
            <a:off x="854364" y="1836421"/>
            <a:ext cx="5098473" cy="1752600"/>
          </a:xfrm>
          <a:custGeom>
            <a:avLst/>
            <a:gdLst/>
            <a:ahLst/>
            <a:cxnLst/>
            <a:rect l="l" t="t" r="r" b="b"/>
            <a:pathLst>
              <a:path w="5098473" h="1752600">
                <a:moveTo>
                  <a:pt x="0" y="10278"/>
                </a:moveTo>
                <a:arcTo wR="63500" hR="63500" stAng="14216656" swAng="1983344"/>
                <a:lnTo>
                  <a:pt x="5063836" y="0"/>
                </a:lnTo>
                <a:arcTo wR="63500" hR="63500" stAng="16200000" swAng="1983344"/>
                <a:lnTo>
                  <a:pt x="5098473" y="1742322"/>
                </a:lnTo>
                <a:arcTo wR="63500" hR="63500" stAng="3416656" swAng="1983344"/>
                <a:lnTo>
                  <a:pt x="34636" y="1752600"/>
                </a:lnTo>
                <a:arcTo wR="63500" hR="63500" stAng="5400000" swAng="1983344"/>
                <a:close/>
              </a:path>
            </a:pathLst>
          </a:custGeom>
        </p:spPr>
      </p:pic>
      <p:sp>
        <p:nvSpPr>
          <p:cNvPr id="6" name="Shape 3"/>
          <p:cNvSpPr/>
          <p:nvPr/>
        </p:nvSpPr>
        <p:spPr>
          <a:xfrm>
            <a:off x="819150" y="1830071"/>
            <a:ext cx="5168900" cy="1765300"/>
          </a:xfrm>
          <a:prstGeom prst="roundRect">
            <a:avLst>
              <a:gd name="adj" fmla="val 3957"/>
            </a:avLst>
          </a:prstGeom>
          <a:noFill/>
          <a:ln w="12700">
            <a:solidFill>
              <a:srgbClr val="DCD9D0"/>
            </a:solidFill>
            <a:prstDash val="solid"/>
          </a:ln>
        </p:spPr>
      </p:sp>
      <p:sp>
        <p:nvSpPr>
          <p:cNvPr id="7" name="Text 4"/>
          <p:cNvSpPr/>
          <p:nvPr/>
        </p:nvSpPr>
        <p:spPr>
          <a:xfrm>
            <a:off x="812800" y="3703321"/>
            <a:ext cx="5337048" cy="26924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B5560C"/>
                </a:solidFill>
                <a:latin typeface="Be Vietnam Pro" pitchFamily="34" charset="0"/>
                <a:ea typeface="Be Vietnam Pro" pitchFamily="34" charset="-122"/>
                <a:cs typeface="Be Vietnam Pro" pitchFamily="34" charset="-120"/>
              </a:rPr>
              <a:t>TC07 · implicit wait</a:t>
            </a:r>
            <a:endParaRPr lang="en-US" sz="1600" dirty="0"/>
          </a:p>
        </p:txBody>
      </p:sp>
      <p:sp>
        <p:nvSpPr>
          <p:cNvPr id="8" name="Text 5"/>
          <p:cNvSpPr/>
          <p:nvPr/>
        </p:nvSpPr>
        <p:spPr>
          <a:xfrm>
            <a:off x="812800" y="4048764"/>
            <a:ext cx="5337048" cy="48768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560"/>
                </a:solidFill>
                <a:latin typeface="Be Vietnam Pro" pitchFamily="34" charset="0"/>
                <a:ea typeface="Be Vietnam Pro" pitchFamily="34" charset="-122"/>
                <a:cs typeface="Be Vietnam Pro" pitchFamily="34" charset="-120"/>
              </a:rPr>
              <a:t>find_element trả về ngay #finish đang ẩn: text rỗng, màn hình vẫn “Loading…”</a:t>
            </a:r>
            <a:endParaRPr lang="en-US" sz="1300" dirty="0"/>
          </a:p>
        </p:txBody>
      </p:sp>
      <p:sp>
        <p:nvSpPr>
          <p:cNvPr id="9" name="Shape 6"/>
          <p:cNvSpPr/>
          <p:nvPr/>
        </p:nvSpPr>
        <p:spPr>
          <a:xfrm>
            <a:off x="6197600" y="1823721"/>
            <a:ext cx="5181600" cy="1778000"/>
          </a:xfrm>
          <a:prstGeom prst="roundRect">
            <a:avLst>
              <a:gd name="adj" fmla="val 4286"/>
            </a:avLst>
          </a:prstGeom>
          <a:solidFill>
            <a:srgbClr val="FFFFFF"/>
          </a:solidFill>
        </p:spPr>
      </p:sp>
      <p:pic>
        <p:nvPicPr>
          <p:cNvPr id="10" name="Image 1" descr="Ảnh TC01: trang Example 1 đã hiện Hello World!"/>
          <p:cNvPicPr>
            <a:picLocks noChangeAspect="1"/>
          </p:cNvPicPr>
          <p:nvPr/>
        </p:nvPicPr>
        <p:blipFill>
          <a:blip r:embed="rId2"/>
          <a:stretch>
            <a:fillRect/>
          </a:stretch>
        </p:blipFill>
        <p:spPr>
          <a:xfrm>
            <a:off x="6239164" y="1836421"/>
            <a:ext cx="5098473" cy="1752600"/>
          </a:xfrm>
          <a:custGeom>
            <a:avLst/>
            <a:gdLst/>
            <a:ahLst/>
            <a:cxnLst/>
            <a:rect l="l" t="t" r="r" b="b"/>
            <a:pathLst>
              <a:path w="5098473" h="1752600">
                <a:moveTo>
                  <a:pt x="0" y="10278"/>
                </a:moveTo>
                <a:arcTo wR="63500" hR="63500" stAng="14216656" swAng="1983344"/>
                <a:lnTo>
                  <a:pt x="5063836" y="0"/>
                </a:lnTo>
                <a:arcTo wR="63500" hR="63500" stAng="16200000" swAng="1983344"/>
                <a:lnTo>
                  <a:pt x="5098473" y="1742322"/>
                </a:lnTo>
                <a:arcTo wR="63500" hR="63500" stAng="3416656" swAng="1983344"/>
                <a:lnTo>
                  <a:pt x="34636" y="1752600"/>
                </a:lnTo>
                <a:arcTo wR="63500" hR="63500" stAng="5400000" swAng="1983344"/>
                <a:close/>
              </a:path>
            </a:pathLst>
          </a:custGeom>
        </p:spPr>
      </p:pic>
      <p:sp>
        <p:nvSpPr>
          <p:cNvPr id="11" name="Shape 7"/>
          <p:cNvSpPr/>
          <p:nvPr/>
        </p:nvSpPr>
        <p:spPr>
          <a:xfrm>
            <a:off x="6203950" y="1830071"/>
            <a:ext cx="5168900" cy="1765300"/>
          </a:xfrm>
          <a:prstGeom prst="roundRect">
            <a:avLst>
              <a:gd name="adj" fmla="val 3957"/>
            </a:avLst>
          </a:prstGeom>
          <a:noFill/>
          <a:ln w="12700">
            <a:solidFill>
              <a:srgbClr val="DCD9D0"/>
            </a:solidFill>
            <a:prstDash val="solid"/>
          </a:ln>
        </p:spPr>
      </p:sp>
      <p:sp>
        <p:nvSpPr>
          <p:cNvPr id="12" name="Text 8"/>
          <p:cNvSpPr/>
          <p:nvPr/>
        </p:nvSpPr>
        <p:spPr>
          <a:xfrm>
            <a:off x="6197600" y="3703321"/>
            <a:ext cx="5337048" cy="26924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E6A47"/>
                </a:solidFill>
                <a:latin typeface="Be Vietnam Pro" pitchFamily="34" charset="0"/>
                <a:ea typeface="Be Vietnam Pro" pitchFamily="34" charset="-122"/>
                <a:cs typeface="Be Vietnam Pro" pitchFamily="34" charset="-120"/>
              </a:rPr>
              <a:t>TC01 · explicit wait + visibility</a:t>
            </a:r>
            <a:endParaRPr lang="en-US" sz="1600" dirty="0"/>
          </a:p>
        </p:txBody>
      </p:sp>
      <p:sp>
        <p:nvSpPr>
          <p:cNvPr id="13" name="Text 9"/>
          <p:cNvSpPr/>
          <p:nvPr/>
        </p:nvSpPr>
        <p:spPr>
          <a:xfrm>
            <a:off x="6197600" y="4048764"/>
            <a:ext cx="5337048"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4A5560"/>
                </a:solidFill>
                <a:latin typeface="Be Vietnam Pro" pitchFamily="34" charset="0"/>
                <a:ea typeface="Be Vietnam Pro" pitchFamily="34" charset="-122"/>
                <a:cs typeface="Be Vietnam Pro" pitchFamily="34" charset="-120"/>
              </a:rPr>
              <a:t>Chờ đến khi chữ thật sự hiện ra mới chạy tiếp: “Hello World!”</a:t>
            </a:r>
            <a:endParaRPr lang="en-US" sz="1300" dirty="0"/>
          </a:p>
        </p:txBody>
      </p:sp>
      <p:sp>
        <p:nvSpPr>
          <p:cNvPr id="14" name="Text 10"/>
          <p:cNvSpPr/>
          <p:nvPr/>
        </p:nvSpPr>
        <p:spPr>
          <a:xfrm>
            <a:off x="812800" y="4765042"/>
            <a:ext cx="5181600" cy="998220"/>
          </a:xfrm>
          <a:prstGeom prst="roundRect">
            <a:avLst>
              <a:gd name="adj" fmla="val 7634"/>
            </a:avLst>
          </a:prstGeom>
          <a:solidFill>
            <a:srgbClr val="ECEAE3"/>
          </a:solidFill>
        </p:spPr>
        <p:txBody>
          <a:bodyPr wrap="square" lIns="180882" tIns="130082" rIns="37626" bIns="104682" rtlCol="0" anchor="t">
            <a:normAutofit/>
          </a:bodyPr>
          <a:lstStyle/>
          <a:p>
            <a:pPr marL="0" indent="0" algn="l">
              <a:lnSpc>
                <a:spcPts val="1820"/>
              </a:lnSpc>
              <a:buNone/>
            </a:pPr>
            <a:r>
              <a:rPr lang="en-US" sz="1300" b="1" dirty="0">
                <a:solidFill>
                  <a:srgbClr val="14212B"/>
                </a:solidFill>
                <a:latin typeface="Be Vietnam Pro" pitchFamily="34" charset="0"/>
                <a:ea typeface="Be Vietnam Pro" pitchFamily="34" charset="-122"/>
                <a:cs typeface="Be Vietnam Pro" pitchFamily="34" charset="-120"/>
              </a:rPr>
              <a:t>TC04, TC05:</a:t>
            </a:r>
            <a:r>
              <a:rPr lang="en-US" sz="1300" dirty="0">
                <a:solidFill>
                  <a:srgbClr val="14212B"/>
                </a:solidFill>
                <a:latin typeface="Be Vietnam Pro" pitchFamily="34" charset="0"/>
                <a:ea typeface="Be Vietnam Pro" pitchFamily="34" charset="-122"/>
                <a:cs typeface="Be Vietnam Pro" pitchFamily="34" charset="-120"/>
              </a:rPr>
              <a:t> pytest.raises bắt đúng TimeoutException. TC05 chờ lại 10 giây vẫn thấy kết quả: trang không lỗi, chỉ chờ quá ngắn.</a:t>
            </a:r>
            <a:endParaRPr lang="en-US" sz="1300" dirty="0"/>
          </a:p>
        </p:txBody>
      </p:sp>
      <p:sp>
        <p:nvSpPr>
          <p:cNvPr id="15" name="Text 11"/>
          <p:cNvSpPr/>
          <p:nvPr/>
        </p:nvSpPr>
        <p:spPr>
          <a:xfrm>
            <a:off x="6197600" y="4765042"/>
            <a:ext cx="5181600" cy="998220"/>
          </a:xfrm>
          <a:prstGeom prst="roundRect">
            <a:avLst>
              <a:gd name="adj" fmla="val 7634"/>
            </a:avLst>
          </a:prstGeom>
          <a:solidFill>
            <a:srgbClr val="ECEAE3"/>
          </a:solidFill>
        </p:spPr>
        <p:txBody>
          <a:bodyPr wrap="square" lIns="180882" tIns="130082" rIns="37626" bIns="104682" rtlCol="0" anchor="t">
            <a:normAutofit/>
          </a:bodyPr>
          <a:lstStyle/>
          <a:p>
            <a:pPr marL="0" indent="0" algn="l">
              <a:lnSpc>
                <a:spcPts val="1820"/>
              </a:lnSpc>
              <a:buNone/>
            </a:pPr>
            <a:r>
              <a:rPr lang="en-US" sz="1300" b="1" dirty="0">
                <a:solidFill>
                  <a:srgbClr val="14212B"/>
                </a:solidFill>
                <a:latin typeface="Be Vietnam Pro" pitchFamily="34" charset="0"/>
                <a:ea typeface="Be Vietnam Pro" pitchFamily="34" charset="-122"/>
                <a:cs typeface="Be Vietnam Pro" pitchFamily="34" charset="-120"/>
              </a:rPr>
              <a:t>TC08:</a:t>
            </a:r>
            <a:r>
              <a:rPr lang="en-US" sz="1300" dirty="0">
                <a:solidFill>
                  <a:srgbClr val="14212B"/>
                </a:solidFill>
                <a:latin typeface="Be Vietnam Pro" pitchFamily="34" charset="0"/>
                <a:ea typeface="Be Vietnam Pro" pitchFamily="34" charset="-122"/>
                <a:cs typeface="Be Vietnam Pro" pitchFamily="34" charset="-120"/>
              </a:rPr>
              <a:t> implicit wait chờ hết khoảng 2 giây rồi mới báo NoSuchElementException; test kiểm tra thời gian chờ ≥ 1,5 giây.</a:t>
            </a:r>
            <a:endParaRPr lang="en-US" sz="1300" dirty="0"/>
          </a:p>
        </p:txBody>
      </p:sp>
      <p:sp>
        <p:nvSpPr>
          <p:cNvPr id="16" name="Text 12"/>
          <p:cNvSpPr/>
          <p:nvPr/>
        </p:nvSpPr>
        <p:spPr>
          <a:xfrm>
            <a:off x="812800" y="6238242"/>
            <a:ext cx="78486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Tuần 7 – W1 · Tải nội dung động · Nhóm N09</a:t>
            </a:r>
            <a:endParaRPr lang="en-US" sz="1200" dirty="0"/>
          </a:p>
        </p:txBody>
      </p:sp>
      <p:sp>
        <p:nvSpPr>
          <p:cNvPr id="17" name="Text 13"/>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5E6973"/>
                </a:solidFill>
                <a:latin typeface="Be Vietnam Pro" pitchFamily="34" charset="0"/>
                <a:ea typeface="Be Vietnam Pro" pitchFamily="34" charset="-122"/>
                <a:cs typeface="Be Vietnam Pr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21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F2994A"/>
                </a:solidFill>
                <a:latin typeface="Be Vietnam Pro" pitchFamily="34" charset="0"/>
                <a:ea typeface="Be Vietnam Pro" pitchFamily="34" charset="-122"/>
                <a:cs typeface="Be Vietnam Pro" pitchFamily="34" charset="-120"/>
              </a:rPr>
              <a:t>KẾT LUẬN</a:t>
            </a:r>
            <a:endParaRPr lang="en-US" sz="1200" dirty="0"/>
          </a:p>
        </p:txBody>
      </p:sp>
      <p:sp>
        <p:nvSpPr>
          <p:cNvPr id="3" name="Text 1"/>
          <p:cNvSpPr/>
          <p:nvPr>
            <p:ph type="title"/>
          </p:nvPr>
        </p:nvSpPr>
        <p:spPr>
          <a:xfrm>
            <a:off x="812800" y="1102364"/>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F6F5F1"/>
                </a:solidFill>
                <a:latin typeface="Be Vietnam Pro" pitchFamily="34" charset="0"/>
                <a:ea typeface="Be Vietnam Pro" pitchFamily="34" charset="-122"/>
                <a:cs typeface="Be Vietnam Pro" pitchFamily="34" charset="-120"/>
              </a:rPr>
              <a:t>Ba điều rút ra từ Tuần 7</a:t>
            </a:r>
            <a:endParaRPr lang="en-US" sz="3200" dirty="0"/>
          </a:p>
        </p:txBody>
      </p:sp>
      <p:sp>
        <p:nvSpPr>
          <p:cNvPr id="4" name="Text 2"/>
          <p:cNvSpPr/>
          <p:nvPr/>
        </p:nvSpPr>
        <p:spPr>
          <a:xfrm>
            <a:off x="812800" y="2597789"/>
            <a:ext cx="209471" cy="381000"/>
          </a:xfrm>
          <a:prstGeom prst="rect">
            <a:avLst/>
          </a:prstGeom>
          <a:noFill/>
        </p:spPr>
        <p:txBody>
          <a:bodyPr wrap="square" lIns="0" tIns="0" rIns="0" bIns="0" rtlCol="0" anchor="t">
            <a:normAutofit/>
          </a:bodyPr>
          <a:lstStyle/>
          <a:p>
            <a:pPr marL="0" indent="0" algn="l">
              <a:lnSpc>
                <a:spcPts val="2800"/>
              </a:lnSpc>
              <a:buNone/>
            </a:pPr>
            <a:r>
              <a:rPr lang="en-US" sz="2800" b="1" dirty="0">
                <a:solidFill>
                  <a:srgbClr val="F2994A"/>
                </a:solidFill>
                <a:latin typeface="Be Vietnam Pro" pitchFamily="34" charset="0"/>
                <a:ea typeface="Be Vietnam Pro" pitchFamily="34" charset="-122"/>
                <a:cs typeface="Be Vietnam Pro" pitchFamily="34" charset="-120"/>
              </a:rPr>
              <a:t>1</a:t>
            </a:r>
            <a:endParaRPr lang="en-US" sz="2800" dirty="0"/>
          </a:p>
        </p:txBody>
      </p:sp>
      <p:sp>
        <p:nvSpPr>
          <p:cNvPr id="5" name="Text 3"/>
          <p:cNvSpPr/>
          <p:nvPr/>
        </p:nvSpPr>
        <p:spPr>
          <a:xfrm>
            <a:off x="1174671" y="2597789"/>
            <a:ext cx="8120729" cy="316865"/>
          </a:xfrm>
          <a:prstGeom prst="rect">
            <a:avLst/>
          </a:prstGeom>
          <a:noFill/>
        </p:spPr>
        <p:txBody>
          <a:bodyPr wrap="square" lIns="0" tIns="0" rIns="0" bIns="0" rtlCol="0" anchor="t">
            <a:normAutofit/>
          </a:bodyPr>
          <a:lstStyle/>
          <a:p>
            <a:pPr marL="0" indent="0" algn="l">
              <a:lnSpc>
                <a:spcPts val="2295"/>
              </a:lnSpc>
              <a:buNone/>
            </a:pPr>
            <a:r>
              <a:rPr lang="en-US" sz="1700" dirty="0">
                <a:solidFill>
                  <a:srgbClr val="F6F5F1"/>
                </a:solidFill>
                <a:latin typeface="Be Vietnam Pro" pitchFamily="34" charset="0"/>
                <a:ea typeface="Be Vietnam Pro" pitchFamily="34" charset="-122"/>
                <a:cs typeface="Be Vietnam Pro" pitchFamily="34" charset="-120"/>
              </a:rPr>
              <a:t>Trang tải động phải </a:t>
            </a:r>
            <a:r>
              <a:rPr lang="en-US" sz="1700" b="1" dirty="0">
                <a:solidFill>
                  <a:srgbClr val="F6F5F1"/>
                </a:solidFill>
                <a:latin typeface="Be Vietnam Pro" pitchFamily="34" charset="0"/>
                <a:ea typeface="Be Vietnam Pro" pitchFamily="34" charset="-122"/>
                <a:cs typeface="Be Vietnam Pro" pitchFamily="34" charset="-120"/>
              </a:rPr>
              <a:t>chờ theo điều kiện</a:t>
            </a:r>
            <a:r>
              <a:rPr lang="en-US" sz="1700" dirty="0">
                <a:solidFill>
                  <a:srgbClr val="F6F5F1"/>
                </a:solidFill>
                <a:latin typeface="Be Vietnam Pro" pitchFamily="34" charset="0"/>
                <a:ea typeface="Be Vietnam Pro" pitchFamily="34" charset="-122"/>
                <a:cs typeface="Be Vietnam Pro" pitchFamily="34" charset="-120"/>
              </a:rPr>
              <a:t>, không dùng time.sleep()</a:t>
            </a:r>
            <a:endParaRPr lang="en-US" sz="1700" dirty="0"/>
          </a:p>
        </p:txBody>
      </p:sp>
      <p:sp>
        <p:nvSpPr>
          <p:cNvPr id="6" name="Text 4"/>
          <p:cNvSpPr/>
          <p:nvPr/>
        </p:nvSpPr>
        <p:spPr>
          <a:xfrm>
            <a:off x="812800" y="3131189"/>
            <a:ext cx="288766" cy="381000"/>
          </a:xfrm>
          <a:prstGeom prst="rect">
            <a:avLst/>
          </a:prstGeom>
          <a:noFill/>
        </p:spPr>
        <p:txBody>
          <a:bodyPr wrap="square" lIns="0" tIns="0" rIns="0" bIns="0" rtlCol="0" anchor="t">
            <a:normAutofit/>
          </a:bodyPr>
          <a:lstStyle/>
          <a:p>
            <a:pPr marL="0" indent="0" algn="l">
              <a:lnSpc>
                <a:spcPts val="2800"/>
              </a:lnSpc>
              <a:buNone/>
            </a:pPr>
            <a:r>
              <a:rPr lang="en-US" sz="2800" b="1" dirty="0">
                <a:solidFill>
                  <a:srgbClr val="F2994A"/>
                </a:solidFill>
                <a:latin typeface="Be Vietnam Pro" pitchFamily="34" charset="0"/>
                <a:ea typeface="Be Vietnam Pro" pitchFamily="34" charset="-122"/>
                <a:cs typeface="Be Vietnam Pro" pitchFamily="34" charset="-120"/>
              </a:rPr>
              <a:t>2</a:t>
            </a:r>
            <a:endParaRPr lang="en-US" sz="2800" dirty="0"/>
          </a:p>
        </p:txBody>
      </p:sp>
      <p:sp>
        <p:nvSpPr>
          <p:cNvPr id="7" name="Text 5"/>
          <p:cNvSpPr/>
          <p:nvPr/>
        </p:nvSpPr>
        <p:spPr>
          <a:xfrm>
            <a:off x="1253966" y="3131189"/>
            <a:ext cx="10938034" cy="316865"/>
          </a:xfrm>
          <a:prstGeom prst="rect">
            <a:avLst/>
          </a:prstGeom>
          <a:noFill/>
        </p:spPr>
        <p:txBody>
          <a:bodyPr wrap="square" lIns="0" tIns="0" rIns="0" bIns="0" rtlCol="0" anchor="t">
            <a:normAutofit/>
          </a:bodyPr>
          <a:lstStyle/>
          <a:p>
            <a:pPr marL="0" indent="0" algn="l">
              <a:lnSpc>
                <a:spcPts val="2295"/>
              </a:lnSpc>
              <a:buNone/>
            </a:pPr>
            <a:r>
              <a:rPr lang="en-US" sz="1700" dirty="0">
                <a:solidFill>
                  <a:srgbClr val="F6F5F1"/>
                </a:solidFill>
                <a:latin typeface="Be Vietnam Pro" pitchFamily="34" charset="0"/>
                <a:ea typeface="Be Vietnam Pro" pitchFamily="34" charset="-122"/>
                <a:cs typeface="Be Vietnam Pro" pitchFamily="34" charset="-120"/>
              </a:rPr>
              <a:t>Phần tử bị ẩn → chờ </a:t>
            </a:r>
            <a:r>
              <a:rPr lang="en-US" sz="1700" b="1" dirty="0">
                <a:solidFill>
                  <a:srgbClr val="F6F5F1"/>
                </a:solidFill>
                <a:latin typeface="Be Vietnam Pro" pitchFamily="34" charset="0"/>
                <a:ea typeface="Be Vietnam Pro" pitchFamily="34" charset="-122"/>
                <a:cs typeface="Be Vietnam Pro" pitchFamily="34" charset="-120"/>
              </a:rPr>
              <a:t>visibility</a:t>
            </a:r>
            <a:r>
              <a:rPr lang="en-US" sz="1700" dirty="0">
                <a:solidFill>
                  <a:srgbClr val="F6F5F1"/>
                </a:solidFill>
                <a:latin typeface="Be Vietnam Pro" pitchFamily="34" charset="0"/>
                <a:ea typeface="Be Vietnam Pro" pitchFamily="34" charset="-122"/>
                <a:cs typeface="Be Vietnam Pro" pitchFamily="34" charset="-120"/>
              </a:rPr>
              <a:t>. Phần tử thêm vào sau → presence hoặc implicit wait cũng đủ</a:t>
            </a:r>
            <a:endParaRPr lang="en-US" sz="1700" dirty="0"/>
          </a:p>
        </p:txBody>
      </p:sp>
      <p:sp>
        <p:nvSpPr>
          <p:cNvPr id="8" name="Text 6"/>
          <p:cNvSpPr/>
          <p:nvPr/>
        </p:nvSpPr>
        <p:spPr>
          <a:xfrm>
            <a:off x="812800" y="3664589"/>
            <a:ext cx="293846" cy="381000"/>
          </a:xfrm>
          <a:prstGeom prst="rect">
            <a:avLst/>
          </a:prstGeom>
          <a:noFill/>
        </p:spPr>
        <p:txBody>
          <a:bodyPr wrap="square" lIns="0" tIns="0" rIns="0" bIns="0" rtlCol="0" anchor="t">
            <a:normAutofit/>
          </a:bodyPr>
          <a:lstStyle/>
          <a:p>
            <a:pPr marL="0" indent="0" algn="l">
              <a:lnSpc>
                <a:spcPts val="2800"/>
              </a:lnSpc>
              <a:buNone/>
            </a:pPr>
            <a:r>
              <a:rPr lang="en-US" sz="2800" b="1" dirty="0">
                <a:solidFill>
                  <a:srgbClr val="F2994A"/>
                </a:solidFill>
                <a:latin typeface="Be Vietnam Pro" pitchFamily="34" charset="0"/>
                <a:ea typeface="Be Vietnam Pro" pitchFamily="34" charset="-122"/>
                <a:cs typeface="Be Vietnam Pro" pitchFamily="34" charset="-120"/>
              </a:rPr>
              <a:t>3</a:t>
            </a:r>
            <a:endParaRPr lang="en-US" sz="2800" dirty="0"/>
          </a:p>
        </p:txBody>
      </p:sp>
      <p:sp>
        <p:nvSpPr>
          <p:cNvPr id="9" name="Text 7"/>
          <p:cNvSpPr/>
          <p:nvPr/>
        </p:nvSpPr>
        <p:spPr>
          <a:xfrm>
            <a:off x="1259046" y="3664589"/>
            <a:ext cx="10423758" cy="608330"/>
          </a:xfrm>
          <a:prstGeom prst="rect">
            <a:avLst/>
          </a:prstGeom>
          <a:noFill/>
        </p:spPr>
        <p:txBody>
          <a:bodyPr wrap="square" lIns="0" tIns="0" rIns="0" bIns="0" rtlCol="0" anchor="t">
            <a:normAutofit/>
          </a:bodyPr>
          <a:lstStyle/>
          <a:p>
            <a:pPr marL="0" indent="0" algn="l">
              <a:lnSpc>
                <a:spcPts val="2295"/>
              </a:lnSpc>
              <a:buNone/>
            </a:pPr>
            <a:r>
              <a:rPr lang="en-US" sz="1700" dirty="0">
                <a:solidFill>
                  <a:srgbClr val="F6F5F1"/>
                </a:solidFill>
                <a:latin typeface="Be Vietnam Pro" pitchFamily="34" charset="0"/>
                <a:ea typeface="Be Vietnam Pro" pitchFamily="34" charset="-122"/>
                <a:cs typeface="Be Vietnam Pro" pitchFamily="34" charset="-120"/>
              </a:rPr>
              <a:t>Chờ thất bại cũng kiểm thử được: TimeoutException, NoSuchElementException với </a:t>
            </a:r>
            <a:r>
              <a:rPr lang="en-US" sz="1700" b="1" dirty="0">
                <a:solidFill>
                  <a:srgbClr val="F6F5F1"/>
                </a:solidFill>
                <a:latin typeface="Be Vietnam Pro" pitchFamily="34" charset="0"/>
                <a:ea typeface="Be Vietnam Pro" pitchFamily="34" charset="-122"/>
                <a:cs typeface="Be Vietnam Pro" pitchFamily="34" charset="-120"/>
              </a:rPr>
              <a:t>pytest.raises</a:t>
            </a:r>
            <a:endParaRPr lang="en-US" sz="1700" dirty="0"/>
          </a:p>
        </p:txBody>
      </p:sp>
      <p:sp>
        <p:nvSpPr>
          <p:cNvPr id="10" name="Text 8"/>
          <p:cNvSpPr/>
          <p:nvPr/>
        </p:nvSpPr>
        <p:spPr>
          <a:xfrm>
            <a:off x="812800" y="5275579"/>
            <a:ext cx="10883392"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B9C6CF"/>
                </a:solidFill>
                <a:latin typeface="Be Vietnam Pro" pitchFamily="34" charset="0"/>
                <a:ea typeface="Be Vietnam Pro" pitchFamily="34" charset="-122"/>
                <a:cs typeface="Be Vietnam Pro" pitchFamily="34" charset="-120"/>
              </a:rPr>
              <a:t>Mã nguồn và báo cáo: github.com/lephamhoangnam20066-dotcom/kttd-05-N09 · nhánh week-07 · tuan-07/W1</a:t>
            </a:r>
            <a:endParaRPr lang="en-US" sz="1300" dirty="0"/>
          </a:p>
        </p:txBody>
      </p:sp>
      <p:sp>
        <p:nvSpPr>
          <p:cNvPr id="11" name="Text 9"/>
          <p:cNvSpPr/>
          <p:nvPr/>
        </p:nvSpPr>
        <p:spPr>
          <a:xfrm>
            <a:off x="812800" y="5557521"/>
            <a:ext cx="10883392" cy="309880"/>
          </a:xfrm>
          <a:prstGeom prst="rect">
            <a:avLst/>
          </a:prstGeom>
          <a:noFill/>
        </p:spPr>
        <p:txBody>
          <a:bodyPr wrap="square" lIns="0" tIns="0" rIns="0" bIns="0" rtlCol="0" anchor="t">
            <a:normAutofit/>
          </a:bodyPr>
          <a:lstStyle/>
          <a:p>
            <a:pPr marL="0" indent="0" algn="l">
              <a:lnSpc>
                <a:spcPts val="2240"/>
              </a:lnSpc>
              <a:buNone/>
            </a:pPr>
            <a:r>
              <a:rPr lang="en-US" sz="1600" b="1" dirty="0">
                <a:solidFill>
                  <a:srgbClr val="F6F5F1"/>
                </a:solidFill>
                <a:latin typeface="Be Vietnam Pro" pitchFamily="34" charset="0"/>
                <a:ea typeface="Be Vietnam Pro" pitchFamily="34" charset="-122"/>
                <a:cs typeface="Be Vietnam Pro" pitchFamily="34" charset="-120"/>
              </a:rPr>
              <a:t>Cảm ơn thầy cô và các bạn đã lắng nghe!</a:t>
            </a:r>
            <a:endParaRPr lang="en-US" sz="1600" dirty="0"/>
          </a:p>
        </p:txBody>
      </p:sp>
      <p:sp>
        <p:nvSpPr>
          <p:cNvPr id="12" name="Text 10"/>
          <p:cNvSpPr/>
          <p:nvPr/>
        </p:nvSpPr>
        <p:spPr>
          <a:xfrm>
            <a:off x="812800" y="6238242"/>
            <a:ext cx="784860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B9C6CF"/>
                </a:solidFill>
                <a:latin typeface="Be Vietnam Pro" pitchFamily="34" charset="0"/>
                <a:ea typeface="Be Vietnam Pro" pitchFamily="34" charset="-122"/>
                <a:cs typeface="Be Vietnam Pro" pitchFamily="34" charset="-120"/>
              </a:rPr>
              <a:t>Tuần 7 – W1 · Tải nội dung động · Nhóm N09</a:t>
            </a:r>
            <a:endParaRPr lang="en-US" sz="1200" dirty="0"/>
          </a:p>
        </p:txBody>
      </p:sp>
      <p:sp>
        <p:nvSpPr>
          <p:cNvPr id="13" name="Text 11"/>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B9C6CF"/>
                </a:solidFill>
                <a:latin typeface="Be Vietnam Pro" pitchFamily="34" charset="0"/>
                <a:ea typeface="Be Vietnam Pro" pitchFamily="34" charset="-122"/>
                <a:cs typeface="Be Vietnam Pro" pitchFamily="34" charset="-120"/>
              </a:rPr>
              <a:t>13</a:t>
            </a:r>
            <a:endParaRPr lang="en-US" sz="1200" dirty="0"/>
          </a:p>
        </p:txBody>
      </p:sp>
    </p:spTree>
  </p:cSld>
  <p:clrMapOvr>
    <a:masterClrMapping/>
  </p:clrMapOvr>
</p:sld>
</file>

<file path=ppt/theme/theme1.xml><?xml version="1.0" encoding="utf-8"?>
<a:theme xmlns:a="http://schemas.openxmlformats.org/drawingml/2006/main" name="Tuần 7 – W1: Tải nội dung động">
  <a:themeElements>
    <a:clrScheme name="Tuần 7 – W1: Tải nội dung động">
      <a:dk1>
        <a:srgbClr val="14212B"/>
      </a:dk1>
      <a:lt1>
        <a:srgbClr val="F6F5F1"/>
      </a:lt1>
      <a:dk2>
        <a:srgbClr val="4D565D"/>
      </a:dk2>
      <a:lt2>
        <a:srgbClr val="DFE0DD"/>
      </a:lt2>
      <a:accent1>
        <a:srgbClr val="B5560C"/>
      </a:accent1>
      <a:accent2>
        <a:srgbClr val="F2994A"/>
      </a:accent2>
      <a:accent3>
        <a:srgbClr val="F7DCC5"/>
      </a:accent3>
      <a:accent4>
        <a:srgbClr val="2F6FB5"/>
      </a:accent4>
      <a:accent5>
        <a:srgbClr val="1E6A47"/>
      </a:accent5>
      <a:accent6>
        <a:srgbClr val="9A4609"/>
      </a:accent6>
      <a:hlink>
        <a:srgbClr val="0563C1"/>
      </a:hlink>
      <a:folHlink>
        <a:srgbClr val="954F72"/>
      </a:folHlink>
    </a:clrScheme>
    <a:fontScheme name="Tuần 7 – W1: Tải nội dung động">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uần 7 – W1: Tải nội dung động">
  <a:themeElements>
    <a:clrScheme name="Tuần 7 – W1: Tải nội dung động">
      <a:dk1>
        <a:srgbClr val="14212B"/>
      </a:dk1>
      <a:lt1>
        <a:srgbClr val="F6F5F1"/>
      </a:lt1>
      <a:dk2>
        <a:srgbClr val="4D565D"/>
      </a:dk2>
      <a:lt2>
        <a:srgbClr val="DFE0DD"/>
      </a:lt2>
      <a:accent1>
        <a:srgbClr val="B5560C"/>
      </a:accent1>
      <a:accent2>
        <a:srgbClr val="F2994A"/>
      </a:accent2>
      <a:accent3>
        <a:srgbClr val="F7DCC5"/>
      </a:accent3>
      <a:accent4>
        <a:srgbClr val="2F6FB5"/>
      </a:accent4>
      <a:accent5>
        <a:srgbClr val="1E6A47"/>
      </a:accent5>
      <a:accent6>
        <a:srgbClr val="9A4609"/>
      </a:accent6>
      <a:hlink>
        <a:srgbClr val="0563C1"/>
      </a:hlink>
      <a:folHlink>
        <a:srgbClr val="954F72"/>
      </a:folHlink>
    </a:clrScheme>
    <a:fontScheme name="Tuần 7 – W1: Tải nội dung động">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6257</Words>
  <Application>WPS Presentation</Application>
  <PresentationFormat>On-screen Show (16:9)</PresentationFormat>
  <Paragraphs>424</Paragraphs>
  <Slides>13</Slides>
  <Notes>13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Be Vietnam Pro</vt:lpstr>
      <vt:lpstr>Be Vietnam Pro</vt:lpstr>
      <vt:lpstr>Be Vietnam Pro</vt:lpstr>
      <vt:lpstr>JetBrains Mono</vt:lpstr>
      <vt:lpstr>JetBrains Mono</vt:lpstr>
      <vt:lpstr>JetBrains Mono</vt:lpstr>
      <vt:lpstr>Microsoft YaHei</vt:lpstr>
      <vt:lpstr>Arial Unicode MS</vt:lpstr>
      <vt:lpstr>MS PGothic</vt:lpstr>
      <vt:lpstr>Calibri</vt:lpstr>
      <vt:lpstr>Tuần 7 – W1: Tải nội dung động</vt:lpstr>
      <vt:lpstr>Tải nội dung động</vt:lpstr>
      <vt:lpstr>Nội dung chỉ xuất hiện sau khi chờ</vt:lpstr>
      <vt:lpstr>Cùng kết quả, hai cách tải khác nhau</vt:lpstr>
      <vt:lpstr>không chờ theo đồng hồ</vt:lpstr>
      <vt:lpstr>Chờ tường minh: WebDriverWait + until</vt:lpstr>
      <vt:lpstr>Ba điều kiện chờ dùng trong bài</vt:lpstr>
      <vt:lpstr>Chờ ngầm định: implicitly_wait</vt:lpstr>
      <vt:lpstr>Explicit hay Implicit?</vt:lpstr>
      <vt:lpstr>Khi chờ thất bại: hai ngoại lệ cần biết</vt:lpstr>
      <vt:lpstr>8 test case, chia hai phần</vt:lpstr>
      <vt:lpstr>8/8 test PASSED, 0 FAILED</vt:lpstr>
      <vt:lpstr>Có mặt chưa chắc đã hiển thị</vt:lpstr>
      <vt:lpstr>Ba điều rút ra từ Tuần 7</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Tuần 7 – W1: Tải nội dung động</dc:title>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Le Pham Hoang Nam</cp:lastModifiedBy>
  <cp:revision>2</cp:revision>
  <dcterms:created xsi:type="dcterms:W3CDTF">2026-10-27T04:53:00Z</dcterms:created>
  <dcterms:modified xsi:type="dcterms:W3CDTF">2026-10-27T04:54:32Z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7E510F5EA80E48FBA0C780EC0E5CF167_12</vt:lpwstr>
  </property>
  <property fmtid="{D5CDD505-2E9C-101B-9397-08002B2CF9AE}" pid="3" name="KSOProductBuildVer">
    <vt:lpwstr>1033-12.1.0.29162</vt:lpwstr>
  </property>
</Properties>
</file>